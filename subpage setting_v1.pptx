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6" d="100"/>
          <a:sy n="96" d="100"/>
        </p:scale>
        <p:origin x="115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FC1C5E-19A9-15B7-DD5E-D3F182BF57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3D83348-068B-9BAF-E58A-D9D7EC4E65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5D2C3B-A5F3-C151-1081-B29108418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9C048-0179-49E2-AA1D-A6D18D075A4C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C9993C-CD0E-E5EA-7BB4-4256545F9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9D0671-7CDC-0478-C161-1E87B235C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EB1E-840B-4447-B638-6D79E377AC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9421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9A858B-5127-4E15-3EE8-5143A8FEA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282EE6-370F-94C3-5463-C79DC4295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7E93A0-A093-A271-CE48-57216D130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9C048-0179-49E2-AA1D-A6D18D075A4C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612C251-6DFE-B6E0-38CB-7CD5AE64B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A1B15B-B81A-3A3F-DE39-459D10118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EB1E-840B-4447-B638-6D79E377AC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799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A4BF9D-1236-EE35-7EA1-9AB3F190D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07255FA-CF35-BDF2-CC56-1023EB4BDF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7B87CC-F9DD-7A71-3DAA-1693B480F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9C048-0179-49E2-AA1D-A6D18D075A4C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9AB4A4-70B1-0827-2668-AC7558744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ADBB27-1CFC-B34C-0868-401A371E9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EB1E-840B-4447-B638-6D79E377AC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4145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D9D8C6-8069-181A-CE6F-D3599A43F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0F1134-8C9B-943B-B972-B5B7C144CC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CA6DC0D-52BB-82E2-488F-48E44F2268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4663F9C-0811-8B0E-A170-AB6C12063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9C048-0179-49E2-AA1D-A6D18D075A4C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13B71AA-F975-8E41-7A7A-429A2CBC6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7B8D9B-02A5-685F-355B-7B35540C2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EB1E-840B-4447-B638-6D79E377AC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8021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5913BE-8D58-0E05-1E37-89B892600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23FB831-7153-1A9C-19C5-2340E96EE7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338C7C0-3164-98CA-78C8-7ADADE4BCE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975B00A-6138-89BE-9BF5-DF29CE92FB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FAAB277-BF7A-4341-A9EA-C511059C2C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FFAA6D3-E0EF-DF70-3A6A-39EDABE79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9C048-0179-49E2-AA1D-A6D18D075A4C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EFC411F-5AD7-CBB4-4D56-761B0AED8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67AFACE-50E9-52AB-C1C8-5E4D8FF91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EB1E-840B-4447-B638-6D79E377AC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4500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C4CCC1-C0F7-5171-C06D-3410F706F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298970C-D063-A2A7-482B-FD5345881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9C048-0179-49E2-AA1D-A6D18D075A4C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73D61D8-E7DB-21D8-0381-F23521F66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1F31580-53D7-21BF-E46A-E7FE020D0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EB1E-840B-4447-B638-6D79E377AC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5856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2054AD6-CB70-28AC-791F-189767366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9C048-0179-49E2-AA1D-A6D18D075A4C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9D3C315-B98F-ED2E-BB0F-BD55730B3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CF091D-C4A7-E88C-A797-8D2952ABD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EB1E-840B-4447-B638-6D79E377AC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649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AB965B-F755-5911-1B7A-E80B0D6BC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4E66A0-CB17-4D26-D908-804F05296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677AD40-0AB5-FFC1-2BC9-224253ECA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DB10D84-D526-69A7-F823-6EF1F4AAD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9C048-0179-49E2-AA1D-A6D18D075A4C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6E5DB00-9941-57B2-65E6-58404A5AE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C4CC8C9-1B6F-110D-ADEA-395B979FF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EB1E-840B-4447-B638-6D79E377AC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4023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A0C76F-AAE2-A55C-FED7-9150CB4C6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52EDAF9-6E81-DD7E-FAE6-B9821120BA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A3C2F66-6643-6C3C-3AE3-5E7BEFA649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FBAD5DB-2802-9394-3650-31D0391BA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9C048-0179-49E2-AA1D-A6D18D075A4C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27D89F1-B789-7C44-9CA2-61C183BA8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93B3411-A12C-58A9-B6F5-D5D1E757D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EB1E-840B-4447-B638-6D79E377AC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8983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1B0C34-178C-657B-FB8E-5BB6A820A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FE0AD69-4354-07F0-A9FF-AEC3D1FD9E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3BBD50-07F5-691E-B1FF-C882FCD1A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9C048-0179-49E2-AA1D-A6D18D075A4C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5062FB-1C56-73EC-F04D-9581AD7D3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0C6A2C-76D1-4D2F-11AA-3C6050FBF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EB1E-840B-4447-B638-6D79E377AC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5947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F13EB60-C546-AEE6-A638-475C3BB565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E3C3E4C-B5F4-0C02-EA59-416D2753D5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80FF27-F293-1678-FC61-94503529B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9C048-0179-49E2-AA1D-A6D18D075A4C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4383B8-5501-7A9A-12E4-5BF255BB8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49B728-370A-7649-333F-12906E9FA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EB1E-840B-4447-B638-6D79E377AC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6157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55BCC20-590F-11A9-796A-FCCE2D9F1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E2A7DC-AC18-D4A3-AFC1-900C4E026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ECA3D0-2B3C-F962-9647-0915D31146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F9C048-0179-49E2-AA1D-A6D18D075A4C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E4E23D-9C2F-CA43-2BC1-0877B9B608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A35EB5-7E15-A691-CA69-9E90099B4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1EEB1E-840B-4447-B638-6D79E377AC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8773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A87EDA9-33B3-34EE-D9ED-AEF7B0A76B79}"/>
              </a:ext>
            </a:extLst>
          </p:cNvPr>
          <p:cNvSpPr/>
          <p:nvPr/>
        </p:nvSpPr>
        <p:spPr>
          <a:xfrm>
            <a:off x="496957" y="1212573"/>
            <a:ext cx="308113" cy="31805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√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4EFA02-A0B2-0F85-EAC6-1E9FEA4BE80A}"/>
              </a:ext>
            </a:extLst>
          </p:cNvPr>
          <p:cNvSpPr txBox="1"/>
          <p:nvPr/>
        </p:nvSpPr>
        <p:spPr>
          <a:xfrm>
            <a:off x="298174" y="248478"/>
            <a:ext cx="57978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4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1-1. Soil</a:t>
            </a:r>
            <a:r>
              <a:rPr lang="ko-KR" altLang="en-US" sz="2400">
                <a:latin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ko-KR" sz="24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properties</a:t>
            </a:r>
            <a:endParaRPr lang="ko-KR" altLang="en-US" sz="24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2F7102-794B-A1C8-ED29-FE276F703557}"/>
              </a:ext>
            </a:extLst>
          </p:cNvPr>
          <p:cNvSpPr txBox="1"/>
          <p:nvPr/>
        </p:nvSpPr>
        <p:spPr>
          <a:xfrm>
            <a:off x="1013791" y="1212573"/>
            <a:ext cx="50822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Unit weight (Moist) (</a:t>
            </a:r>
            <a:r>
              <a:rPr lang="ko-KR" altLang="en-US" sz="1600">
                <a:latin typeface="HY견고딕" panose="02030600000101010101" pitchFamily="18" charset="-127"/>
                <a:ea typeface="HY견고딕" panose="02030600000101010101" pitchFamily="18" charset="-127"/>
                <a:cs typeface="ADLaM Display" panose="020F0502020204030204" pitchFamily="2" charset="0"/>
              </a:rPr>
              <a:t>습윤단위중량</a:t>
            </a:r>
            <a:r>
              <a:rPr lang="en-US" altLang="ko-KR" sz="16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)</a:t>
            </a:r>
            <a:endParaRPr lang="ko-KR" altLang="en-US" sz="16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DA48CD8-7B43-505A-F8CC-E83DE104C133}"/>
              </a:ext>
            </a:extLst>
          </p:cNvPr>
          <p:cNvSpPr/>
          <p:nvPr/>
        </p:nvSpPr>
        <p:spPr>
          <a:xfrm>
            <a:off x="6096000" y="1212573"/>
            <a:ext cx="2859157" cy="318052"/>
          </a:xfrm>
          <a:prstGeom prst="rect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EA49CD-5104-14C2-F27C-02D2FFE6F99A}"/>
              </a:ext>
            </a:extLst>
          </p:cNvPr>
          <p:cNvSpPr txBox="1"/>
          <p:nvPr/>
        </p:nvSpPr>
        <p:spPr>
          <a:xfrm>
            <a:off x="9054548" y="1212573"/>
            <a:ext cx="13616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kN/m</a:t>
            </a:r>
            <a:r>
              <a:rPr lang="en-US" altLang="ko-KR" sz="1600" baseline="300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3</a:t>
            </a:r>
            <a:endParaRPr lang="ko-KR" altLang="en-US" sz="1600" baseline="300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2A4ED38-E886-6724-7D2F-9264777B7E99}"/>
              </a:ext>
            </a:extLst>
          </p:cNvPr>
          <p:cNvSpPr/>
          <p:nvPr/>
        </p:nvSpPr>
        <p:spPr>
          <a:xfrm>
            <a:off x="496957" y="1715003"/>
            <a:ext cx="308113" cy="31805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√</a:t>
            </a:r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0D4F8A-03F4-5AE2-E6C3-D253E7D671F8}"/>
              </a:ext>
            </a:extLst>
          </p:cNvPr>
          <p:cNvSpPr txBox="1"/>
          <p:nvPr/>
        </p:nvSpPr>
        <p:spPr>
          <a:xfrm>
            <a:off x="1013791" y="1715003"/>
            <a:ext cx="50822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Young’s modulus (</a:t>
            </a:r>
            <a:r>
              <a:rPr lang="ko-KR" altLang="en-US" sz="1600">
                <a:latin typeface="HY견고딕" panose="02030600000101010101" pitchFamily="18" charset="-127"/>
                <a:ea typeface="HY견고딕" panose="02030600000101010101" pitchFamily="18" charset="-127"/>
                <a:cs typeface="ADLaM Display" panose="020F0502020204030204" pitchFamily="2" charset="0"/>
              </a:rPr>
              <a:t>탄성계수</a:t>
            </a:r>
            <a:r>
              <a:rPr lang="en-US" altLang="ko-KR" sz="16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)</a:t>
            </a:r>
            <a:endParaRPr lang="ko-KR" altLang="en-US" sz="16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4DAE4F7-9AED-69A4-4DE3-B53342095F89}"/>
              </a:ext>
            </a:extLst>
          </p:cNvPr>
          <p:cNvSpPr/>
          <p:nvPr/>
        </p:nvSpPr>
        <p:spPr>
          <a:xfrm>
            <a:off x="6096000" y="1715003"/>
            <a:ext cx="2859157" cy="318052"/>
          </a:xfrm>
          <a:prstGeom prst="rect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8DA474-AA13-9526-D4CF-E6DDB9AACC3E}"/>
              </a:ext>
            </a:extLst>
          </p:cNvPr>
          <p:cNvSpPr txBox="1"/>
          <p:nvPr/>
        </p:nvSpPr>
        <p:spPr>
          <a:xfrm>
            <a:off x="9054548" y="1715003"/>
            <a:ext cx="13616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kPa</a:t>
            </a:r>
            <a:endParaRPr lang="ko-KR" altLang="en-US" sz="1600" baseline="300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B3BF51E-193F-9BE2-C9F6-262C51E6F9F6}"/>
              </a:ext>
            </a:extLst>
          </p:cNvPr>
          <p:cNvSpPr/>
          <p:nvPr/>
        </p:nvSpPr>
        <p:spPr>
          <a:xfrm>
            <a:off x="496957" y="2699361"/>
            <a:ext cx="308113" cy="31805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√</a:t>
            </a:r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CBC4E7-389D-BAAD-B86F-CF98518D0708}"/>
              </a:ext>
            </a:extLst>
          </p:cNvPr>
          <p:cNvSpPr txBox="1"/>
          <p:nvPr/>
        </p:nvSpPr>
        <p:spPr>
          <a:xfrm>
            <a:off x="1013791" y="2699361"/>
            <a:ext cx="50822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Cohession (</a:t>
            </a:r>
            <a:r>
              <a:rPr lang="ko-KR" altLang="en-US" sz="1600">
                <a:latin typeface="HY견고딕" panose="02030600000101010101" pitchFamily="18" charset="-127"/>
                <a:ea typeface="HY견고딕" panose="02030600000101010101" pitchFamily="18" charset="-127"/>
                <a:cs typeface="ADLaM Display" panose="020F0502020204030204" pitchFamily="2" charset="0"/>
              </a:rPr>
              <a:t>점착력</a:t>
            </a:r>
            <a:r>
              <a:rPr lang="en-US" altLang="ko-KR" sz="16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)</a:t>
            </a:r>
            <a:endParaRPr lang="ko-KR" altLang="en-US" sz="16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204E05B-7288-A65A-2F80-941FC4C69BE1}"/>
              </a:ext>
            </a:extLst>
          </p:cNvPr>
          <p:cNvSpPr/>
          <p:nvPr/>
        </p:nvSpPr>
        <p:spPr>
          <a:xfrm>
            <a:off x="6096000" y="2699361"/>
            <a:ext cx="2859157" cy="318052"/>
          </a:xfrm>
          <a:prstGeom prst="rect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D945EE-1DB9-87FE-11D8-AF22132508BC}"/>
              </a:ext>
            </a:extLst>
          </p:cNvPr>
          <p:cNvSpPr txBox="1"/>
          <p:nvPr/>
        </p:nvSpPr>
        <p:spPr>
          <a:xfrm>
            <a:off x="9054548" y="2699361"/>
            <a:ext cx="13616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kPa</a:t>
            </a:r>
            <a:endParaRPr lang="ko-KR" altLang="en-US" sz="1600" baseline="300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8DC339A-9DAD-521F-74BB-EB6C58100C2E}"/>
              </a:ext>
            </a:extLst>
          </p:cNvPr>
          <p:cNvSpPr/>
          <p:nvPr/>
        </p:nvSpPr>
        <p:spPr>
          <a:xfrm>
            <a:off x="496957" y="3201791"/>
            <a:ext cx="308113" cy="31805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√</a:t>
            </a:r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183C84-5420-CE42-F062-3C87D61B322C}"/>
              </a:ext>
            </a:extLst>
          </p:cNvPr>
          <p:cNvSpPr txBox="1"/>
          <p:nvPr/>
        </p:nvSpPr>
        <p:spPr>
          <a:xfrm>
            <a:off x="1013791" y="3201791"/>
            <a:ext cx="50822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Shear Strenght angle (</a:t>
            </a:r>
            <a:r>
              <a:rPr lang="ko-KR" altLang="en-US" sz="1600">
                <a:latin typeface="HY견고딕" panose="02030600000101010101" pitchFamily="18" charset="-127"/>
                <a:ea typeface="HY견고딕" panose="02030600000101010101" pitchFamily="18" charset="-127"/>
                <a:cs typeface="ADLaM Display" panose="020F0502020204030204" pitchFamily="2" charset="0"/>
              </a:rPr>
              <a:t>내부마찰각 또는 전단저항각</a:t>
            </a:r>
            <a:r>
              <a:rPr lang="en-US" altLang="ko-KR" sz="16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)</a:t>
            </a:r>
            <a:endParaRPr lang="ko-KR" altLang="en-US" sz="16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50D5601-5756-28E6-58AD-D207B1FAE0A7}"/>
              </a:ext>
            </a:extLst>
          </p:cNvPr>
          <p:cNvSpPr/>
          <p:nvPr/>
        </p:nvSpPr>
        <p:spPr>
          <a:xfrm>
            <a:off x="6096000" y="3201791"/>
            <a:ext cx="2859157" cy="318052"/>
          </a:xfrm>
          <a:prstGeom prst="rect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ECC3579-272D-2CFB-725B-D91D5697C5EA}"/>
              </a:ext>
            </a:extLst>
          </p:cNvPr>
          <p:cNvSpPr txBox="1"/>
          <p:nvPr/>
        </p:nvSpPr>
        <p:spPr>
          <a:xfrm>
            <a:off x="9054548" y="3201791"/>
            <a:ext cx="13616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>
                <a:latin typeface="Times New Roman" panose="02020603050405020304" pitchFamily="18" charset="0"/>
                <a:ea typeface="ADLaM Display" panose="020F0502020204030204" pitchFamily="2" charset="0"/>
                <a:cs typeface="Times New Roman" panose="02020603050405020304" pitchFamily="18" charset="0"/>
              </a:rPr>
              <a:t>°</a:t>
            </a:r>
            <a:endParaRPr lang="ko-KR" altLang="en-US" sz="1600" baseline="300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8904F07-3897-FE0B-0A39-5D95DE99580D}"/>
              </a:ext>
            </a:extLst>
          </p:cNvPr>
          <p:cNvSpPr/>
          <p:nvPr/>
        </p:nvSpPr>
        <p:spPr>
          <a:xfrm>
            <a:off x="496957" y="3683719"/>
            <a:ext cx="308113" cy="31805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√</a:t>
            </a:r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FE55267-C764-6C9B-325B-8A68F7D95D50}"/>
              </a:ext>
            </a:extLst>
          </p:cNvPr>
          <p:cNvSpPr txBox="1"/>
          <p:nvPr/>
        </p:nvSpPr>
        <p:spPr>
          <a:xfrm>
            <a:off x="1013791" y="3683719"/>
            <a:ext cx="50822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Permiability (</a:t>
            </a:r>
            <a:r>
              <a:rPr lang="ko-KR" altLang="en-US" sz="1600">
                <a:latin typeface="HY견고딕" panose="02030600000101010101" pitchFamily="18" charset="-127"/>
                <a:ea typeface="HY견고딕" panose="02030600000101010101" pitchFamily="18" charset="-127"/>
                <a:cs typeface="ADLaM Display" panose="020F0502020204030204" pitchFamily="2" charset="0"/>
              </a:rPr>
              <a:t>투수계수</a:t>
            </a:r>
            <a:r>
              <a:rPr lang="en-US" altLang="ko-KR" sz="16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)</a:t>
            </a:r>
            <a:endParaRPr lang="ko-KR" altLang="en-US" sz="16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53687DC-EF63-1D74-2D35-0C92C84C1F38}"/>
              </a:ext>
            </a:extLst>
          </p:cNvPr>
          <p:cNvSpPr/>
          <p:nvPr/>
        </p:nvSpPr>
        <p:spPr>
          <a:xfrm>
            <a:off x="6096000" y="3683719"/>
            <a:ext cx="2859157" cy="318052"/>
          </a:xfrm>
          <a:prstGeom prst="rect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5CC922-CDB8-DA95-1DB6-A82F88B447F5}"/>
              </a:ext>
            </a:extLst>
          </p:cNvPr>
          <p:cNvSpPr txBox="1"/>
          <p:nvPr/>
        </p:nvSpPr>
        <p:spPr>
          <a:xfrm>
            <a:off x="9054548" y="3683719"/>
            <a:ext cx="13616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cm/s</a:t>
            </a:r>
            <a:endParaRPr lang="ko-KR" altLang="en-US" sz="1600" baseline="3000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AD5CDB0-FE0D-D9A1-43D3-0C2A620149E6}"/>
              </a:ext>
            </a:extLst>
          </p:cNvPr>
          <p:cNvSpPr/>
          <p:nvPr/>
        </p:nvSpPr>
        <p:spPr>
          <a:xfrm>
            <a:off x="496957" y="4165647"/>
            <a:ext cx="308113" cy="31805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√</a:t>
            </a:r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A6D4A5D-1971-AE8A-FADC-370A2904B37F}"/>
              </a:ext>
            </a:extLst>
          </p:cNvPr>
          <p:cNvSpPr txBox="1"/>
          <p:nvPr/>
        </p:nvSpPr>
        <p:spPr>
          <a:xfrm>
            <a:off x="1013791" y="4165647"/>
            <a:ext cx="50822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Ground water table (</a:t>
            </a:r>
            <a:r>
              <a:rPr lang="ko-KR" altLang="en-US" sz="1600">
                <a:latin typeface="HY견고딕" panose="02030600000101010101" pitchFamily="18" charset="-127"/>
                <a:ea typeface="HY견고딕" panose="02030600000101010101" pitchFamily="18" charset="-127"/>
                <a:cs typeface="ADLaM Display" panose="020F0502020204030204" pitchFamily="2" charset="0"/>
              </a:rPr>
              <a:t>초기지하수위</a:t>
            </a:r>
            <a:r>
              <a:rPr lang="en-US" altLang="ko-KR" sz="16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)</a:t>
            </a:r>
            <a:endParaRPr lang="ko-KR" altLang="en-US" sz="16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8721EDE-77CA-4827-8EB7-357F83F14257}"/>
              </a:ext>
            </a:extLst>
          </p:cNvPr>
          <p:cNvSpPr/>
          <p:nvPr/>
        </p:nvSpPr>
        <p:spPr>
          <a:xfrm>
            <a:off x="6096000" y="4165647"/>
            <a:ext cx="2859157" cy="318052"/>
          </a:xfrm>
          <a:prstGeom prst="rect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453A825-F825-9ABF-9EF1-1EA598B1F3C3}"/>
              </a:ext>
            </a:extLst>
          </p:cNvPr>
          <p:cNvSpPr txBox="1"/>
          <p:nvPr/>
        </p:nvSpPr>
        <p:spPr>
          <a:xfrm>
            <a:off x="9054548" y="4165647"/>
            <a:ext cx="13616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</a:t>
            </a:r>
            <a:endParaRPr lang="ko-KR" altLang="en-US" sz="1600" baseline="3000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12F1F72-71C9-937C-4611-41A85048A73B}"/>
              </a:ext>
            </a:extLst>
          </p:cNvPr>
          <p:cNvSpPr/>
          <p:nvPr/>
        </p:nvSpPr>
        <p:spPr>
          <a:xfrm>
            <a:off x="496957" y="2217433"/>
            <a:ext cx="308113" cy="31805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√</a:t>
            </a:r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284A4FC-1F75-3235-55E0-97856BE393CB}"/>
              </a:ext>
            </a:extLst>
          </p:cNvPr>
          <p:cNvSpPr txBox="1"/>
          <p:nvPr/>
        </p:nvSpPr>
        <p:spPr>
          <a:xfrm>
            <a:off x="1013791" y="2217433"/>
            <a:ext cx="50822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Poisson’s ratio (</a:t>
            </a:r>
            <a:r>
              <a:rPr lang="ko-KR" altLang="en-US" sz="1600">
                <a:latin typeface="HY견고딕" panose="02030600000101010101" pitchFamily="18" charset="-127"/>
                <a:ea typeface="HY견고딕" panose="02030600000101010101" pitchFamily="18" charset="-127"/>
                <a:cs typeface="ADLaM Display" panose="020F0502020204030204" pitchFamily="2" charset="0"/>
              </a:rPr>
              <a:t>포아슨비</a:t>
            </a:r>
            <a:r>
              <a:rPr lang="en-US" altLang="ko-KR" sz="16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)</a:t>
            </a:r>
            <a:endParaRPr lang="ko-KR" altLang="en-US" sz="16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394EE9E-0C26-B3EF-F6BF-322264219ACC}"/>
              </a:ext>
            </a:extLst>
          </p:cNvPr>
          <p:cNvSpPr/>
          <p:nvPr/>
        </p:nvSpPr>
        <p:spPr>
          <a:xfrm>
            <a:off x="6096000" y="2217433"/>
            <a:ext cx="2859157" cy="318052"/>
          </a:xfrm>
          <a:prstGeom prst="rect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A48D6D47-7B73-6EAF-F194-BFB631808E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" r="64111" b="700"/>
          <a:stretch>
            <a:fillRect/>
          </a:stretch>
        </p:blipFill>
        <p:spPr>
          <a:xfrm>
            <a:off x="496958" y="5599263"/>
            <a:ext cx="346006" cy="461666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6AC1D754-C82D-A7DD-1A0D-A7DE6F3188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528"/>
          <a:stretch>
            <a:fillRect/>
          </a:stretch>
        </p:blipFill>
        <p:spPr>
          <a:xfrm>
            <a:off x="496957" y="6207786"/>
            <a:ext cx="346006" cy="464919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34EAA7E9-05E7-260B-611D-BCD80B43543B}"/>
              </a:ext>
            </a:extLst>
          </p:cNvPr>
          <p:cNvSpPr txBox="1"/>
          <p:nvPr/>
        </p:nvSpPr>
        <p:spPr>
          <a:xfrm>
            <a:off x="1013791" y="5660819"/>
            <a:ext cx="50822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>
                <a:latin typeface="ADLaM Display" panose="020F0502020204030204" pitchFamily="2" charset="0"/>
                <a:cs typeface="ADLaM Display" panose="020F0502020204030204" pitchFamily="2" charset="0"/>
              </a:rPr>
              <a:t>Fix value</a:t>
            </a:r>
            <a:endParaRPr lang="ko-KR" altLang="en-US" sz="16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951E0C9-51D6-2CAF-05E6-D2D81B024399}"/>
              </a:ext>
            </a:extLst>
          </p:cNvPr>
          <p:cNvSpPr txBox="1"/>
          <p:nvPr/>
        </p:nvSpPr>
        <p:spPr>
          <a:xfrm>
            <a:off x="1013791" y="6270968"/>
            <a:ext cx="50822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>
                <a:latin typeface="ADLaM Display" panose="020F0502020204030204" pitchFamily="2" charset="0"/>
                <a:cs typeface="ADLaM Display" panose="020F0502020204030204" pitchFamily="2" charset="0"/>
              </a:rPr>
              <a:t>Edit value</a:t>
            </a:r>
            <a:endParaRPr lang="ko-KR" altLang="en-US" sz="16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4DBECB20-B4DE-321B-D5B8-D04335CF1B0C}"/>
              </a:ext>
            </a:extLst>
          </p:cNvPr>
          <p:cNvSpPr/>
          <p:nvPr/>
        </p:nvSpPr>
        <p:spPr>
          <a:xfrm>
            <a:off x="7810500" y="5664337"/>
            <a:ext cx="1924050" cy="3385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save</a:t>
            </a:r>
            <a:endParaRPr lang="ko-KR" altLang="en-US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41BF4814-39DA-F1D6-D0F8-4259F9216E41}"/>
              </a:ext>
            </a:extLst>
          </p:cNvPr>
          <p:cNvSpPr/>
          <p:nvPr/>
        </p:nvSpPr>
        <p:spPr>
          <a:xfrm>
            <a:off x="7810500" y="6270968"/>
            <a:ext cx="1924050" cy="3385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next</a:t>
            </a:r>
            <a:endParaRPr lang="ko-KR" altLang="en-US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45" name="설명선: 선 44">
            <a:extLst>
              <a:ext uri="{FF2B5EF4-FFF2-40B4-BE49-F238E27FC236}">
                <a16:creationId xmlns:a16="http://schemas.microsoft.com/office/drawing/2014/main" id="{638940DD-30EA-3EAC-F02C-73B990FA9854}"/>
              </a:ext>
            </a:extLst>
          </p:cNvPr>
          <p:cNvSpPr/>
          <p:nvPr/>
        </p:nvSpPr>
        <p:spPr>
          <a:xfrm>
            <a:off x="1333500" y="780621"/>
            <a:ext cx="1285875" cy="338554"/>
          </a:xfrm>
          <a:prstGeom prst="borderCallout1">
            <a:avLst>
              <a:gd name="adj1" fmla="val 1869"/>
              <a:gd name="adj2" fmla="val -185"/>
              <a:gd name="adj3" fmla="val 101246"/>
              <a:gd name="adj4" fmla="val -33889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check box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6F6260B1-5F72-21D1-4654-9F3CD1166E2C}"/>
              </a:ext>
            </a:extLst>
          </p:cNvPr>
          <p:cNvSpPr/>
          <p:nvPr/>
        </p:nvSpPr>
        <p:spPr>
          <a:xfrm>
            <a:off x="298174" y="1119175"/>
            <a:ext cx="616226" cy="3509975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B9B0882C-DEDF-492C-3B4B-0BDCC320631B}"/>
              </a:ext>
            </a:extLst>
          </p:cNvPr>
          <p:cNvSpPr/>
          <p:nvPr/>
        </p:nvSpPr>
        <p:spPr>
          <a:xfrm>
            <a:off x="5996608" y="1113650"/>
            <a:ext cx="3057939" cy="3509975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설명선: 선 47">
            <a:extLst>
              <a:ext uri="{FF2B5EF4-FFF2-40B4-BE49-F238E27FC236}">
                <a16:creationId xmlns:a16="http://schemas.microsoft.com/office/drawing/2014/main" id="{DD8DEE2A-32AF-3564-F599-7677758258E8}"/>
              </a:ext>
            </a:extLst>
          </p:cNvPr>
          <p:cNvSpPr/>
          <p:nvPr/>
        </p:nvSpPr>
        <p:spPr>
          <a:xfrm>
            <a:off x="7141679" y="523881"/>
            <a:ext cx="1285875" cy="338554"/>
          </a:xfrm>
          <a:prstGeom prst="borderCallout1">
            <a:avLst>
              <a:gd name="adj1" fmla="val 1869"/>
              <a:gd name="adj2" fmla="val -185"/>
              <a:gd name="adj3" fmla="val 171582"/>
              <a:gd name="adj4" fmla="val -3611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input</a:t>
            </a:r>
            <a:r>
              <a:rPr lang="ko-KR" altLang="en-US">
                <a:solidFill>
                  <a:schemeClr val="tx1"/>
                </a:solidFill>
              </a:rPr>
              <a:t> </a:t>
            </a:r>
            <a:r>
              <a:rPr lang="en-US" altLang="ko-KR">
                <a:solidFill>
                  <a:schemeClr val="tx1"/>
                </a:solidFill>
              </a:rPr>
              <a:t>box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50AD47A3-1414-0E16-FA44-CE9946FAA29B}"/>
              </a:ext>
            </a:extLst>
          </p:cNvPr>
          <p:cNvSpPr/>
          <p:nvPr/>
        </p:nvSpPr>
        <p:spPr>
          <a:xfrm>
            <a:off x="419100" y="5505450"/>
            <a:ext cx="495300" cy="628907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설명선: 선 51">
            <a:extLst>
              <a:ext uri="{FF2B5EF4-FFF2-40B4-BE49-F238E27FC236}">
                <a16:creationId xmlns:a16="http://schemas.microsoft.com/office/drawing/2014/main" id="{B500A2DC-C279-61DF-A6FE-D543501925D6}"/>
              </a:ext>
            </a:extLst>
          </p:cNvPr>
          <p:cNvSpPr/>
          <p:nvPr/>
        </p:nvSpPr>
        <p:spPr>
          <a:xfrm>
            <a:off x="1333500" y="5186468"/>
            <a:ext cx="1285875" cy="338554"/>
          </a:xfrm>
          <a:prstGeom prst="borderCallout1">
            <a:avLst>
              <a:gd name="adj1" fmla="val 1869"/>
              <a:gd name="adj2" fmla="val -185"/>
              <a:gd name="adj3" fmla="val 101246"/>
              <a:gd name="adj4" fmla="val -33889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lock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A6877DE6-CBD6-9E1B-A32D-FEDB87ED0B96}"/>
              </a:ext>
            </a:extLst>
          </p:cNvPr>
          <p:cNvSpPr/>
          <p:nvPr/>
        </p:nvSpPr>
        <p:spPr>
          <a:xfrm>
            <a:off x="419100" y="6164267"/>
            <a:ext cx="495300" cy="628907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설명선: 선 53">
            <a:extLst>
              <a:ext uri="{FF2B5EF4-FFF2-40B4-BE49-F238E27FC236}">
                <a16:creationId xmlns:a16="http://schemas.microsoft.com/office/drawing/2014/main" id="{D063E2A6-2662-23D2-F287-F9F4E87FB463}"/>
              </a:ext>
            </a:extLst>
          </p:cNvPr>
          <p:cNvSpPr/>
          <p:nvPr/>
        </p:nvSpPr>
        <p:spPr>
          <a:xfrm>
            <a:off x="2771775" y="6483588"/>
            <a:ext cx="1285875" cy="338554"/>
          </a:xfrm>
          <a:prstGeom prst="borderCallout1">
            <a:avLst>
              <a:gd name="adj1" fmla="val 1869"/>
              <a:gd name="adj2" fmla="val -185"/>
              <a:gd name="adj3" fmla="val 87179"/>
              <a:gd name="adj4" fmla="val -143519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unlock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5" name="설명선: 선 54">
            <a:extLst>
              <a:ext uri="{FF2B5EF4-FFF2-40B4-BE49-F238E27FC236}">
                <a16:creationId xmlns:a16="http://schemas.microsoft.com/office/drawing/2014/main" id="{41C8726F-A9BA-3846-7289-B49B93FC8606}"/>
              </a:ext>
            </a:extLst>
          </p:cNvPr>
          <p:cNvSpPr/>
          <p:nvPr/>
        </p:nvSpPr>
        <p:spPr>
          <a:xfrm>
            <a:off x="10540862" y="185327"/>
            <a:ext cx="1352963" cy="338554"/>
          </a:xfrm>
          <a:prstGeom prst="borderCallout1">
            <a:avLst>
              <a:gd name="adj1" fmla="val 1869"/>
              <a:gd name="adj2" fmla="val -185"/>
              <a:gd name="adj3" fmla="val 157515"/>
              <a:gd name="adj4" fmla="val -33889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Ad Banner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BDE2D0B0-60FB-9090-75C4-06E89915C1D6}"/>
              </a:ext>
            </a:extLst>
          </p:cNvPr>
          <p:cNvSpPr/>
          <p:nvPr/>
        </p:nvSpPr>
        <p:spPr>
          <a:xfrm>
            <a:off x="9981785" y="710143"/>
            <a:ext cx="2029239" cy="5899379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설명선: 선 56">
            <a:extLst>
              <a:ext uri="{FF2B5EF4-FFF2-40B4-BE49-F238E27FC236}">
                <a16:creationId xmlns:a16="http://schemas.microsoft.com/office/drawing/2014/main" id="{732E3C86-A252-3023-4C16-AEA782A92828}"/>
              </a:ext>
            </a:extLst>
          </p:cNvPr>
          <p:cNvSpPr/>
          <p:nvPr/>
        </p:nvSpPr>
        <p:spPr>
          <a:xfrm>
            <a:off x="5453062" y="5219947"/>
            <a:ext cx="1285875" cy="338554"/>
          </a:xfrm>
          <a:prstGeom prst="borderCallout1">
            <a:avLst>
              <a:gd name="adj1" fmla="val 97526"/>
              <a:gd name="adj2" fmla="val 99815"/>
              <a:gd name="adj3" fmla="val 149075"/>
              <a:gd name="adj4" fmla="val 186852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button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8" name="설명선: 선 57">
            <a:extLst>
              <a:ext uri="{FF2B5EF4-FFF2-40B4-BE49-F238E27FC236}">
                <a16:creationId xmlns:a16="http://schemas.microsoft.com/office/drawing/2014/main" id="{E0A538C0-D742-F320-D541-7E860A1C8A4C}"/>
              </a:ext>
            </a:extLst>
          </p:cNvPr>
          <p:cNvSpPr/>
          <p:nvPr/>
        </p:nvSpPr>
        <p:spPr>
          <a:xfrm>
            <a:off x="5453062" y="5855050"/>
            <a:ext cx="1285875" cy="338554"/>
          </a:xfrm>
          <a:prstGeom prst="borderCallout1">
            <a:avLst>
              <a:gd name="adj1" fmla="val 97526"/>
              <a:gd name="adj2" fmla="val 99815"/>
              <a:gd name="adj3" fmla="val 149075"/>
              <a:gd name="adj4" fmla="val 186852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button</a:t>
            </a:r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08626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8CDA5-EA0A-FF80-BC52-BE3A1ABC8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5856F1E-DF33-DD33-F5FB-DC4434B47A9C}"/>
              </a:ext>
            </a:extLst>
          </p:cNvPr>
          <p:cNvSpPr/>
          <p:nvPr/>
        </p:nvSpPr>
        <p:spPr>
          <a:xfrm>
            <a:off x="496957" y="1212573"/>
            <a:ext cx="308113" cy="31805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√</a:t>
            </a:r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6A4228-51C4-FB2A-CF71-C9A67190AB5A}"/>
              </a:ext>
            </a:extLst>
          </p:cNvPr>
          <p:cNvSpPr txBox="1"/>
          <p:nvPr/>
        </p:nvSpPr>
        <p:spPr>
          <a:xfrm>
            <a:off x="298174" y="248478"/>
            <a:ext cx="57978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4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1-2. Structure</a:t>
            </a:r>
            <a:r>
              <a:rPr lang="ko-KR" altLang="en-US" sz="2400">
                <a:latin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ko-KR" sz="24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properties</a:t>
            </a:r>
            <a:endParaRPr lang="ko-KR" altLang="en-US" sz="24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DC84A6-F608-F3FF-956B-46977E91F3D5}"/>
              </a:ext>
            </a:extLst>
          </p:cNvPr>
          <p:cNvSpPr txBox="1"/>
          <p:nvPr/>
        </p:nvSpPr>
        <p:spPr>
          <a:xfrm>
            <a:off x="1013791" y="1212573"/>
            <a:ext cx="50822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Axial stiffness of Wall (</a:t>
            </a:r>
            <a:r>
              <a:rPr lang="ko-KR" altLang="en-US" sz="1600">
                <a:latin typeface="HY견고딕" panose="02030600000101010101" pitchFamily="18" charset="-127"/>
                <a:ea typeface="HY견고딕" panose="02030600000101010101" pitchFamily="18" charset="-127"/>
                <a:cs typeface="ADLaM Display" panose="020F0502020204030204" pitchFamily="2" charset="0"/>
              </a:rPr>
              <a:t>벽체 축강성</a:t>
            </a:r>
            <a:r>
              <a:rPr lang="en-US" altLang="ko-KR" sz="16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)</a:t>
            </a:r>
            <a:endParaRPr lang="ko-KR" altLang="en-US" sz="16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38A98FE-4C0A-132A-5EA4-E7E4E184C65B}"/>
              </a:ext>
            </a:extLst>
          </p:cNvPr>
          <p:cNvSpPr/>
          <p:nvPr/>
        </p:nvSpPr>
        <p:spPr>
          <a:xfrm>
            <a:off x="6096000" y="1212573"/>
            <a:ext cx="2859157" cy="318052"/>
          </a:xfrm>
          <a:prstGeom prst="rect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54927D-AB42-1BB5-08DA-6C2CAA2FF54E}"/>
              </a:ext>
            </a:extLst>
          </p:cNvPr>
          <p:cNvSpPr txBox="1"/>
          <p:nvPr/>
        </p:nvSpPr>
        <p:spPr>
          <a:xfrm>
            <a:off x="9054548" y="1212573"/>
            <a:ext cx="13616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kN/m</a:t>
            </a:r>
            <a:endParaRPr lang="ko-KR" altLang="en-US" sz="1600" baseline="300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249A92D-A03C-85BE-A679-D96427FDAFBB}"/>
              </a:ext>
            </a:extLst>
          </p:cNvPr>
          <p:cNvSpPr/>
          <p:nvPr/>
        </p:nvSpPr>
        <p:spPr>
          <a:xfrm>
            <a:off x="496957" y="1715003"/>
            <a:ext cx="308113" cy="31805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√</a:t>
            </a:r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2AB251-4AA2-84B8-E85D-EA0733F9B33B}"/>
              </a:ext>
            </a:extLst>
          </p:cNvPr>
          <p:cNvSpPr txBox="1"/>
          <p:nvPr/>
        </p:nvSpPr>
        <p:spPr>
          <a:xfrm>
            <a:off x="1013791" y="1715003"/>
            <a:ext cx="50822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Flexural stiffness of Wall (</a:t>
            </a:r>
            <a:r>
              <a:rPr lang="ko-KR" altLang="en-US" sz="1600">
                <a:latin typeface="HY견고딕" panose="02030600000101010101" pitchFamily="18" charset="-127"/>
                <a:ea typeface="HY견고딕" panose="02030600000101010101" pitchFamily="18" charset="-127"/>
                <a:cs typeface="ADLaM Display" panose="020F0502020204030204" pitchFamily="2" charset="0"/>
              </a:rPr>
              <a:t>벽체 휨강성</a:t>
            </a:r>
            <a:r>
              <a:rPr lang="en-US" altLang="ko-KR" sz="16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)</a:t>
            </a:r>
            <a:endParaRPr lang="ko-KR" altLang="en-US" sz="16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DA03E90-87A4-61D3-F60B-AC7B4F8902C9}"/>
              </a:ext>
            </a:extLst>
          </p:cNvPr>
          <p:cNvSpPr/>
          <p:nvPr/>
        </p:nvSpPr>
        <p:spPr>
          <a:xfrm>
            <a:off x="6096000" y="1715003"/>
            <a:ext cx="2859157" cy="318052"/>
          </a:xfrm>
          <a:prstGeom prst="rect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03735B-E46B-3BC2-79C2-99ECE064074A}"/>
              </a:ext>
            </a:extLst>
          </p:cNvPr>
          <p:cNvSpPr txBox="1"/>
          <p:nvPr/>
        </p:nvSpPr>
        <p:spPr>
          <a:xfrm>
            <a:off x="9054548" y="1715003"/>
            <a:ext cx="13616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kN</a:t>
            </a:r>
            <a:r>
              <a:rPr lang="en-US" altLang="ko-KR" sz="1600">
                <a:latin typeface="Times New Roman" panose="02020603050405020304" pitchFamily="18" charset="0"/>
                <a:ea typeface="ADLaM Display" panose="020F0502020204030204" pitchFamily="2" charset="0"/>
                <a:cs typeface="Times New Roman" panose="02020603050405020304" pitchFamily="18" charset="0"/>
              </a:rPr>
              <a:t>·</a:t>
            </a:r>
            <a:r>
              <a:rPr lang="en-US" altLang="ko-KR" sz="16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mm</a:t>
            </a:r>
            <a:r>
              <a:rPr lang="en-US" altLang="ko-KR" sz="1600" baseline="300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2</a:t>
            </a:r>
            <a:endParaRPr lang="ko-KR" altLang="en-US" sz="1600" baseline="300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2E7BC3E-93AE-1E16-55E5-2F85257C34C9}"/>
              </a:ext>
            </a:extLst>
          </p:cNvPr>
          <p:cNvSpPr/>
          <p:nvPr/>
        </p:nvSpPr>
        <p:spPr>
          <a:xfrm>
            <a:off x="496957" y="2237935"/>
            <a:ext cx="308113" cy="31805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√</a:t>
            </a:r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BEE65B-EB85-9209-65A0-49A45E454D10}"/>
              </a:ext>
            </a:extLst>
          </p:cNvPr>
          <p:cNvSpPr txBox="1"/>
          <p:nvPr/>
        </p:nvSpPr>
        <p:spPr>
          <a:xfrm>
            <a:off x="1013791" y="2237935"/>
            <a:ext cx="50822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Unit weight of Wall (</a:t>
            </a:r>
            <a:r>
              <a:rPr lang="ko-KR" altLang="en-US" sz="1600">
                <a:latin typeface="HY견고딕" panose="02030600000101010101" pitchFamily="18" charset="-127"/>
                <a:ea typeface="HY견고딕" panose="02030600000101010101" pitchFamily="18" charset="-127"/>
                <a:cs typeface="ADLaM Display" panose="020F0502020204030204" pitchFamily="2" charset="0"/>
              </a:rPr>
              <a:t>벽체 단위중량</a:t>
            </a:r>
            <a:r>
              <a:rPr lang="en-US" altLang="ko-KR" sz="16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)</a:t>
            </a:r>
            <a:endParaRPr lang="ko-KR" altLang="en-US" sz="16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44C2192-FD27-1D6E-CD9F-B97C56BA0EC1}"/>
              </a:ext>
            </a:extLst>
          </p:cNvPr>
          <p:cNvSpPr/>
          <p:nvPr/>
        </p:nvSpPr>
        <p:spPr>
          <a:xfrm>
            <a:off x="6096000" y="2237935"/>
            <a:ext cx="2859157" cy="318052"/>
          </a:xfrm>
          <a:prstGeom prst="rect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03F856-14E4-CF74-294B-DAAA94411309}"/>
              </a:ext>
            </a:extLst>
          </p:cNvPr>
          <p:cNvSpPr txBox="1"/>
          <p:nvPr/>
        </p:nvSpPr>
        <p:spPr>
          <a:xfrm>
            <a:off x="9054548" y="2237935"/>
            <a:ext cx="13616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kN/m</a:t>
            </a:r>
            <a:r>
              <a:rPr lang="en-US" altLang="ko-KR" sz="1600" baseline="300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3</a:t>
            </a:r>
            <a:endParaRPr lang="ko-KR" altLang="en-US" sz="1600" baseline="300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CD91DE4-2056-4403-7C19-A809A49CC98F}"/>
              </a:ext>
            </a:extLst>
          </p:cNvPr>
          <p:cNvSpPr/>
          <p:nvPr/>
        </p:nvSpPr>
        <p:spPr>
          <a:xfrm>
            <a:off x="496957" y="2740365"/>
            <a:ext cx="308113" cy="31805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90B876-8D7E-35B9-F0B5-8C91A3E1CE15}"/>
              </a:ext>
            </a:extLst>
          </p:cNvPr>
          <p:cNvSpPr txBox="1"/>
          <p:nvPr/>
        </p:nvSpPr>
        <p:spPr>
          <a:xfrm>
            <a:off x="1013791" y="2740365"/>
            <a:ext cx="50822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Strength of Foundation (</a:t>
            </a:r>
            <a:r>
              <a:rPr lang="ko-KR" altLang="en-US" sz="1600">
                <a:latin typeface="HY견고딕" panose="02030600000101010101" pitchFamily="18" charset="-127"/>
                <a:ea typeface="HY견고딕" panose="02030600000101010101" pitchFamily="18" charset="-127"/>
                <a:cs typeface="ADLaM Display" panose="020F0502020204030204" pitchFamily="2" charset="0"/>
              </a:rPr>
              <a:t>기초 강도</a:t>
            </a:r>
            <a:r>
              <a:rPr lang="en-US" altLang="ko-KR" sz="16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)</a:t>
            </a:r>
            <a:endParaRPr lang="ko-KR" altLang="en-US" sz="16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D483EB1-0267-2788-0DA1-4B9DFAEC021F}"/>
              </a:ext>
            </a:extLst>
          </p:cNvPr>
          <p:cNvSpPr/>
          <p:nvPr/>
        </p:nvSpPr>
        <p:spPr>
          <a:xfrm>
            <a:off x="6096000" y="2740365"/>
            <a:ext cx="2859157" cy="318052"/>
          </a:xfrm>
          <a:prstGeom prst="rect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DCCFB2B-8829-33E7-7767-18671DAF7023}"/>
              </a:ext>
            </a:extLst>
          </p:cNvPr>
          <p:cNvSpPr txBox="1"/>
          <p:nvPr/>
        </p:nvSpPr>
        <p:spPr>
          <a:xfrm>
            <a:off x="9054548" y="2740365"/>
            <a:ext cx="13616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MPa</a:t>
            </a:r>
            <a:endParaRPr lang="ko-KR" altLang="en-US" sz="1600" baseline="300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030AB13-A5BC-DA82-974F-CEF05B635A24}"/>
              </a:ext>
            </a:extLst>
          </p:cNvPr>
          <p:cNvSpPr/>
          <p:nvPr/>
        </p:nvSpPr>
        <p:spPr>
          <a:xfrm>
            <a:off x="496957" y="4327140"/>
            <a:ext cx="308113" cy="31805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√</a:t>
            </a:r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5C7C494-3F0C-4962-7601-24F0EB837982}"/>
              </a:ext>
            </a:extLst>
          </p:cNvPr>
          <p:cNvSpPr txBox="1"/>
          <p:nvPr/>
        </p:nvSpPr>
        <p:spPr>
          <a:xfrm>
            <a:off x="1013791" y="4327140"/>
            <a:ext cx="50822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Size of Foundation (</a:t>
            </a:r>
            <a:r>
              <a:rPr lang="ko-KR" altLang="en-US" sz="1600">
                <a:latin typeface="HY견고딕" panose="02030600000101010101" pitchFamily="18" charset="-127"/>
                <a:ea typeface="HY견고딕" panose="02030600000101010101" pitchFamily="18" charset="-127"/>
                <a:cs typeface="ADLaM Display" panose="020F0502020204030204" pitchFamily="2" charset="0"/>
              </a:rPr>
              <a:t>기초 규격</a:t>
            </a:r>
            <a:r>
              <a:rPr lang="en-US" altLang="ko-KR" sz="16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)</a:t>
            </a:r>
            <a:endParaRPr lang="ko-KR" altLang="en-US" sz="16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733DF64-98C8-CD6D-CAE7-14EE80B23B5D}"/>
              </a:ext>
            </a:extLst>
          </p:cNvPr>
          <p:cNvSpPr/>
          <p:nvPr/>
        </p:nvSpPr>
        <p:spPr>
          <a:xfrm>
            <a:off x="7883388" y="4327140"/>
            <a:ext cx="1071769" cy="318052"/>
          </a:xfrm>
          <a:prstGeom prst="rect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9CCAB3C-2B95-F666-27A4-A15FCAC97B5A}"/>
              </a:ext>
            </a:extLst>
          </p:cNvPr>
          <p:cNvSpPr/>
          <p:nvPr/>
        </p:nvSpPr>
        <p:spPr>
          <a:xfrm>
            <a:off x="496957" y="3279861"/>
            <a:ext cx="308113" cy="31805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√</a:t>
            </a:r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C54EA87-5EBF-D2B0-074B-D3B7EF6DD832}"/>
              </a:ext>
            </a:extLst>
          </p:cNvPr>
          <p:cNvSpPr txBox="1"/>
          <p:nvPr/>
        </p:nvSpPr>
        <p:spPr>
          <a:xfrm>
            <a:off x="1013791" y="3279861"/>
            <a:ext cx="50822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Unit weight of Foundation (</a:t>
            </a:r>
            <a:r>
              <a:rPr lang="ko-KR" altLang="en-US" sz="1600">
                <a:latin typeface="HY견고딕" panose="02030600000101010101" pitchFamily="18" charset="-127"/>
                <a:ea typeface="HY견고딕" panose="02030600000101010101" pitchFamily="18" charset="-127"/>
                <a:cs typeface="ADLaM Display" panose="020F0502020204030204" pitchFamily="2" charset="0"/>
              </a:rPr>
              <a:t>기초 단위중량</a:t>
            </a:r>
            <a:r>
              <a:rPr lang="en-US" altLang="ko-KR" sz="16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)</a:t>
            </a:r>
            <a:endParaRPr lang="ko-KR" altLang="en-US" sz="16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3132850-4D32-D25D-70A5-A15A3C064E76}"/>
              </a:ext>
            </a:extLst>
          </p:cNvPr>
          <p:cNvSpPr/>
          <p:nvPr/>
        </p:nvSpPr>
        <p:spPr>
          <a:xfrm>
            <a:off x="6096000" y="3279861"/>
            <a:ext cx="2859157" cy="318052"/>
          </a:xfrm>
          <a:prstGeom prst="rect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9EEB89E-8825-4B69-CBAD-4158D5E679BA}"/>
              </a:ext>
            </a:extLst>
          </p:cNvPr>
          <p:cNvSpPr txBox="1"/>
          <p:nvPr/>
        </p:nvSpPr>
        <p:spPr>
          <a:xfrm>
            <a:off x="9054548" y="3279861"/>
            <a:ext cx="13616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kN/m</a:t>
            </a:r>
            <a:r>
              <a:rPr lang="en-US" altLang="ko-KR" sz="1600" baseline="300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3</a:t>
            </a:r>
            <a:endParaRPr lang="ko-KR" altLang="en-US" sz="1600" baseline="300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B31FD4AE-78C0-5766-301D-849181BBBF58}"/>
              </a:ext>
            </a:extLst>
          </p:cNvPr>
          <p:cNvSpPr/>
          <p:nvPr/>
        </p:nvSpPr>
        <p:spPr>
          <a:xfrm>
            <a:off x="496957" y="3770628"/>
            <a:ext cx="308113" cy="31805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AB5B38B-42DF-7B6F-3D58-E090FA184466}"/>
              </a:ext>
            </a:extLst>
          </p:cNvPr>
          <p:cNvSpPr txBox="1"/>
          <p:nvPr/>
        </p:nvSpPr>
        <p:spPr>
          <a:xfrm>
            <a:off x="1013791" y="3770628"/>
            <a:ext cx="50822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Overburden load of Foundation (</a:t>
            </a:r>
            <a:r>
              <a:rPr lang="ko-KR" altLang="en-US" sz="1600">
                <a:latin typeface="HY견고딕" panose="02030600000101010101" pitchFamily="18" charset="-127"/>
                <a:ea typeface="HY견고딕" panose="02030600000101010101" pitchFamily="18" charset="-127"/>
                <a:cs typeface="ADLaM Display" panose="020F0502020204030204" pitchFamily="2" charset="0"/>
              </a:rPr>
              <a:t>기초 상재 하중</a:t>
            </a:r>
            <a:r>
              <a:rPr lang="en-US" altLang="ko-KR" sz="16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)</a:t>
            </a:r>
            <a:endParaRPr lang="ko-KR" altLang="en-US" sz="16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B529711B-D4CB-CD67-EC73-9D38E01329D6}"/>
              </a:ext>
            </a:extLst>
          </p:cNvPr>
          <p:cNvSpPr/>
          <p:nvPr/>
        </p:nvSpPr>
        <p:spPr>
          <a:xfrm>
            <a:off x="6096000" y="3770628"/>
            <a:ext cx="2859157" cy="318052"/>
          </a:xfrm>
          <a:prstGeom prst="rect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DD4EE46-2EF6-D796-0515-F4D41CE63FE9}"/>
              </a:ext>
            </a:extLst>
          </p:cNvPr>
          <p:cNvSpPr txBox="1"/>
          <p:nvPr/>
        </p:nvSpPr>
        <p:spPr>
          <a:xfrm>
            <a:off x="9054548" y="3770628"/>
            <a:ext cx="13616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kN/m</a:t>
            </a:r>
            <a:r>
              <a:rPr lang="en-US" altLang="ko-KR" sz="1600" baseline="300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2</a:t>
            </a:r>
            <a:endParaRPr lang="ko-KR" altLang="en-US" sz="1600" baseline="300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44F3CC3-0D7D-A223-6E6A-D0BEDCED884D}"/>
              </a:ext>
            </a:extLst>
          </p:cNvPr>
          <p:cNvSpPr txBox="1"/>
          <p:nvPr/>
        </p:nvSpPr>
        <p:spPr>
          <a:xfrm>
            <a:off x="6096000" y="4327140"/>
            <a:ext cx="1714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>
                <a:latin typeface="ADLaM Display" panose="020F0502020204030204" pitchFamily="2" charset="0"/>
                <a:cs typeface="ADLaM Display" panose="020F0502020204030204" pitchFamily="2" charset="0"/>
              </a:rPr>
              <a:t>Width (</a:t>
            </a:r>
            <a:r>
              <a:rPr lang="ko-KR" altLang="en-US" sz="1600">
                <a:latin typeface="HY견고딕" panose="02030600000101010101" pitchFamily="18" charset="-127"/>
                <a:ea typeface="HY견고딕" panose="02030600000101010101" pitchFamily="18" charset="-127"/>
                <a:cs typeface="ADLaM Display" panose="020F0502020204030204" pitchFamily="2" charset="0"/>
              </a:rPr>
              <a:t>폭</a:t>
            </a:r>
            <a:r>
              <a:rPr lang="en-US" altLang="ko-KR" sz="1600">
                <a:latin typeface="ADLaM Display" panose="020F0502020204030204" pitchFamily="2" charset="0"/>
                <a:cs typeface="ADLaM Display" panose="020F0502020204030204" pitchFamily="2" charset="0"/>
              </a:rPr>
              <a:t>)</a:t>
            </a:r>
            <a:endParaRPr lang="ko-KR" altLang="en-US" sz="16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DA9F9F17-EA04-7934-FAE4-0282F546B572}"/>
              </a:ext>
            </a:extLst>
          </p:cNvPr>
          <p:cNvSpPr/>
          <p:nvPr/>
        </p:nvSpPr>
        <p:spPr>
          <a:xfrm>
            <a:off x="7883388" y="4745128"/>
            <a:ext cx="1071769" cy="318052"/>
          </a:xfrm>
          <a:prstGeom prst="rect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8D6E42B-3D67-539F-BC55-BE55DC8B39BD}"/>
              </a:ext>
            </a:extLst>
          </p:cNvPr>
          <p:cNvSpPr txBox="1"/>
          <p:nvPr/>
        </p:nvSpPr>
        <p:spPr>
          <a:xfrm>
            <a:off x="6096000" y="4745128"/>
            <a:ext cx="1714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>
                <a:latin typeface="ADLaM Display" panose="020F0502020204030204" pitchFamily="2" charset="0"/>
                <a:cs typeface="ADLaM Display" panose="020F0502020204030204" pitchFamily="2" charset="0"/>
              </a:rPr>
              <a:t>Length (</a:t>
            </a:r>
            <a:r>
              <a:rPr lang="ko-KR" altLang="en-US" sz="1600">
                <a:latin typeface="HY견고딕" panose="02030600000101010101" pitchFamily="18" charset="-127"/>
                <a:ea typeface="HY견고딕" panose="02030600000101010101" pitchFamily="18" charset="-127"/>
                <a:cs typeface="ADLaM Display" panose="020F0502020204030204" pitchFamily="2" charset="0"/>
              </a:rPr>
              <a:t>길이</a:t>
            </a:r>
            <a:r>
              <a:rPr lang="en-US" altLang="ko-KR" sz="1600">
                <a:latin typeface="ADLaM Display" panose="020F0502020204030204" pitchFamily="2" charset="0"/>
                <a:cs typeface="ADLaM Display" panose="020F0502020204030204" pitchFamily="2" charset="0"/>
              </a:rPr>
              <a:t>)</a:t>
            </a:r>
            <a:endParaRPr lang="ko-KR" altLang="en-US" sz="16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B37B7E0E-F688-3695-DFB1-C5E60205370C}"/>
              </a:ext>
            </a:extLst>
          </p:cNvPr>
          <p:cNvSpPr/>
          <p:nvPr/>
        </p:nvSpPr>
        <p:spPr>
          <a:xfrm>
            <a:off x="7883389" y="5163116"/>
            <a:ext cx="1071769" cy="318052"/>
          </a:xfrm>
          <a:prstGeom prst="rect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C594197-42A0-CD4B-AD2E-AFF476821A15}"/>
              </a:ext>
            </a:extLst>
          </p:cNvPr>
          <p:cNvSpPr txBox="1"/>
          <p:nvPr/>
        </p:nvSpPr>
        <p:spPr>
          <a:xfrm>
            <a:off x="6095999" y="5163116"/>
            <a:ext cx="17144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>
                <a:latin typeface="ADLaM Display" panose="020F0502020204030204" pitchFamily="2" charset="0"/>
                <a:cs typeface="ADLaM Display" panose="020F0502020204030204" pitchFamily="2" charset="0"/>
              </a:rPr>
              <a:t>Thickness (</a:t>
            </a:r>
            <a:r>
              <a:rPr lang="ko-KR" altLang="en-US" sz="1600">
                <a:latin typeface="HY견고딕" panose="02030600000101010101" pitchFamily="18" charset="-127"/>
                <a:ea typeface="HY견고딕" panose="02030600000101010101" pitchFamily="18" charset="-127"/>
                <a:cs typeface="ADLaM Display" panose="020F0502020204030204" pitchFamily="2" charset="0"/>
              </a:rPr>
              <a:t>두께</a:t>
            </a:r>
            <a:r>
              <a:rPr lang="en-US" altLang="ko-KR" sz="1600">
                <a:latin typeface="ADLaM Display" panose="020F0502020204030204" pitchFamily="2" charset="0"/>
                <a:cs typeface="ADLaM Display" panose="020F0502020204030204" pitchFamily="2" charset="0"/>
              </a:rPr>
              <a:t>)</a:t>
            </a:r>
            <a:endParaRPr lang="ko-KR" altLang="en-US" sz="16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D50E5F2-A97A-F48F-67CE-680E0314158C}"/>
              </a:ext>
            </a:extLst>
          </p:cNvPr>
          <p:cNvSpPr txBox="1"/>
          <p:nvPr/>
        </p:nvSpPr>
        <p:spPr>
          <a:xfrm>
            <a:off x="8955158" y="5163116"/>
            <a:ext cx="7040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>
                <a:latin typeface="ADLaM Display" panose="020F0502020204030204" pitchFamily="2" charset="0"/>
                <a:cs typeface="ADLaM Display" panose="020F0502020204030204" pitchFamily="2" charset="0"/>
              </a:rPr>
              <a:t>m</a:t>
            </a:r>
            <a:endParaRPr lang="ko-KR" altLang="en-US" sz="16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BC21B05-DFA8-5E92-24AC-3C43B94614AC}"/>
              </a:ext>
            </a:extLst>
          </p:cNvPr>
          <p:cNvSpPr txBox="1"/>
          <p:nvPr/>
        </p:nvSpPr>
        <p:spPr>
          <a:xfrm>
            <a:off x="8955158" y="4744242"/>
            <a:ext cx="7040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>
                <a:latin typeface="ADLaM Display" panose="020F0502020204030204" pitchFamily="2" charset="0"/>
                <a:cs typeface="ADLaM Display" panose="020F0502020204030204" pitchFamily="2" charset="0"/>
              </a:rPr>
              <a:t>m</a:t>
            </a:r>
            <a:endParaRPr lang="ko-KR" altLang="en-US" sz="16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637D6FD-D694-98BA-F375-21056E74F46D}"/>
              </a:ext>
            </a:extLst>
          </p:cNvPr>
          <p:cNvSpPr txBox="1"/>
          <p:nvPr/>
        </p:nvSpPr>
        <p:spPr>
          <a:xfrm>
            <a:off x="8955158" y="4316003"/>
            <a:ext cx="7040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>
                <a:latin typeface="ADLaM Display" panose="020F0502020204030204" pitchFamily="2" charset="0"/>
                <a:cs typeface="ADLaM Display" panose="020F0502020204030204" pitchFamily="2" charset="0"/>
              </a:rPr>
              <a:t>m</a:t>
            </a:r>
            <a:endParaRPr lang="ko-KR" altLang="en-US" sz="16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pic>
        <p:nvPicPr>
          <p:cNvPr id="62" name="그림 61">
            <a:extLst>
              <a:ext uri="{FF2B5EF4-FFF2-40B4-BE49-F238E27FC236}">
                <a16:creationId xmlns:a16="http://schemas.microsoft.com/office/drawing/2014/main" id="{6F5BBB0E-6596-7C72-F307-B77C018071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" r="64111" b="700"/>
          <a:stretch>
            <a:fillRect/>
          </a:stretch>
        </p:blipFill>
        <p:spPr>
          <a:xfrm>
            <a:off x="496958" y="5599263"/>
            <a:ext cx="346006" cy="461666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9D8B6BFD-183B-5639-9EA4-BF36960F30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528"/>
          <a:stretch>
            <a:fillRect/>
          </a:stretch>
        </p:blipFill>
        <p:spPr>
          <a:xfrm>
            <a:off x="496957" y="6207786"/>
            <a:ext cx="346006" cy="464919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4306989C-1DB9-2229-D0B8-51B8D0D4B49A}"/>
              </a:ext>
            </a:extLst>
          </p:cNvPr>
          <p:cNvSpPr txBox="1"/>
          <p:nvPr/>
        </p:nvSpPr>
        <p:spPr>
          <a:xfrm>
            <a:off x="1013791" y="5660819"/>
            <a:ext cx="50822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>
                <a:latin typeface="ADLaM Display" panose="020F0502020204030204" pitchFamily="2" charset="0"/>
                <a:cs typeface="ADLaM Display" panose="020F0502020204030204" pitchFamily="2" charset="0"/>
              </a:rPr>
              <a:t>Fix value</a:t>
            </a:r>
            <a:endParaRPr lang="ko-KR" altLang="en-US" sz="16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C3C5B32-A42A-286F-EB99-DE28C40542CB}"/>
              </a:ext>
            </a:extLst>
          </p:cNvPr>
          <p:cNvSpPr txBox="1"/>
          <p:nvPr/>
        </p:nvSpPr>
        <p:spPr>
          <a:xfrm>
            <a:off x="1013791" y="6270968"/>
            <a:ext cx="50822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>
                <a:latin typeface="ADLaM Display" panose="020F0502020204030204" pitchFamily="2" charset="0"/>
                <a:cs typeface="ADLaM Display" panose="020F0502020204030204" pitchFamily="2" charset="0"/>
              </a:rPr>
              <a:t>Edit value</a:t>
            </a:r>
            <a:endParaRPr lang="ko-KR" altLang="en-US" sz="16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EC9269EF-DCCC-FC9E-35A7-DD6F4197F9B1}"/>
              </a:ext>
            </a:extLst>
          </p:cNvPr>
          <p:cNvSpPr/>
          <p:nvPr/>
        </p:nvSpPr>
        <p:spPr>
          <a:xfrm>
            <a:off x="7810500" y="5664337"/>
            <a:ext cx="1924050" cy="3385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save</a:t>
            </a:r>
            <a:endParaRPr lang="ko-KR" altLang="en-US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EAA0BBD5-F6C5-22A9-B997-E7A7E716D23D}"/>
              </a:ext>
            </a:extLst>
          </p:cNvPr>
          <p:cNvSpPr/>
          <p:nvPr/>
        </p:nvSpPr>
        <p:spPr>
          <a:xfrm>
            <a:off x="7810500" y="6270968"/>
            <a:ext cx="1924050" cy="3385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latin typeface="ADLaM Display" panose="02010000000000000000" pitchFamily="2" charset="0"/>
                <a:cs typeface="ADLaM Display" panose="02010000000000000000" pitchFamily="2" charset="0"/>
              </a:rPr>
              <a:t>next</a:t>
            </a:r>
            <a:endParaRPr lang="ko-KR" altLang="en-US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9" name="설명선: 선 68">
            <a:extLst>
              <a:ext uri="{FF2B5EF4-FFF2-40B4-BE49-F238E27FC236}">
                <a16:creationId xmlns:a16="http://schemas.microsoft.com/office/drawing/2014/main" id="{A3113771-95C2-2067-CA2C-45CB2636F097}"/>
              </a:ext>
            </a:extLst>
          </p:cNvPr>
          <p:cNvSpPr/>
          <p:nvPr/>
        </p:nvSpPr>
        <p:spPr>
          <a:xfrm>
            <a:off x="1333500" y="780621"/>
            <a:ext cx="1285875" cy="338554"/>
          </a:xfrm>
          <a:prstGeom prst="borderCallout1">
            <a:avLst>
              <a:gd name="adj1" fmla="val 1869"/>
              <a:gd name="adj2" fmla="val -185"/>
              <a:gd name="adj3" fmla="val 101246"/>
              <a:gd name="adj4" fmla="val -33889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check box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B9124BED-E819-8C82-DF62-FFCA96E61DF7}"/>
              </a:ext>
            </a:extLst>
          </p:cNvPr>
          <p:cNvSpPr/>
          <p:nvPr/>
        </p:nvSpPr>
        <p:spPr>
          <a:xfrm>
            <a:off x="298174" y="1119175"/>
            <a:ext cx="616226" cy="3625067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AF6658B6-A8DB-0B76-0C2C-81D1F253FDA6}"/>
              </a:ext>
            </a:extLst>
          </p:cNvPr>
          <p:cNvSpPr/>
          <p:nvPr/>
        </p:nvSpPr>
        <p:spPr>
          <a:xfrm>
            <a:off x="5996608" y="1113650"/>
            <a:ext cx="3057939" cy="3102417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설명선: 선 71">
            <a:extLst>
              <a:ext uri="{FF2B5EF4-FFF2-40B4-BE49-F238E27FC236}">
                <a16:creationId xmlns:a16="http://schemas.microsoft.com/office/drawing/2014/main" id="{737CB879-1CCE-EC8B-2371-3BBC8627DA2A}"/>
              </a:ext>
            </a:extLst>
          </p:cNvPr>
          <p:cNvSpPr/>
          <p:nvPr/>
        </p:nvSpPr>
        <p:spPr>
          <a:xfrm>
            <a:off x="7141679" y="523881"/>
            <a:ext cx="1285875" cy="338554"/>
          </a:xfrm>
          <a:prstGeom prst="borderCallout1">
            <a:avLst>
              <a:gd name="adj1" fmla="val 1869"/>
              <a:gd name="adj2" fmla="val -185"/>
              <a:gd name="adj3" fmla="val 171582"/>
              <a:gd name="adj4" fmla="val -3611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input</a:t>
            </a:r>
            <a:r>
              <a:rPr lang="ko-KR" altLang="en-US">
                <a:solidFill>
                  <a:schemeClr val="tx1"/>
                </a:solidFill>
              </a:rPr>
              <a:t> </a:t>
            </a:r>
            <a:r>
              <a:rPr lang="en-US" altLang="ko-KR">
                <a:solidFill>
                  <a:schemeClr val="tx1"/>
                </a:solidFill>
              </a:rPr>
              <a:t>box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536E406F-E09C-7674-CC44-AD6230228780}"/>
              </a:ext>
            </a:extLst>
          </p:cNvPr>
          <p:cNvSpPr/>
          <p:nvPr/>
        </p:nvSpPr>
        <p:spPr>
          <a:xfrm>
            <a:off x="419100" y="5505450"/>
            <a:ext cx="495300" cy="628907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설명선: 선 73">
            <a:extLst>
              <a:ext uri="{FF2B5EF4-FFF2-40B4-BE49-F238E27FC236}">
                <a16:creationId xmlns:a16="http://schemas.microsoft.com/office/drawing/2014/main" id="{6BD2484D-944F-4237-66A4-BEBFFA551515}"/>
              </a:ext>
            </a:extLst>
          </p:cNvPr>
          <p:cNvSpPr/>
          <p:nvPr/>
        </p:nvSpPr>
        <p:spPr>
          <a:xfrm>
            <a:off x="1333500" y="5186468"/>
            <a:ext cx="1285875" cy="338554"/>
          </a:xfrm>
          <a:prstGeom prst="borderCallout1">
            <a:avLst>
              <a:gd name="adj1" fmla="val 1869"/>
              <a:gd name="adj2" fmla="val -185"/>
              <a:gd name="adj3" fmla="val 101246"/>
              <a:gd name="adj4" fmla="val -33889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lock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BC15C27D-D7CD-4476-7584-9A80F0F59F64}"/>
              </a:ext>
            </a:extLst>
          </p:cNvPr>
          <p:cNvSpPr/>
          <p:nvPr/>
        </p:nvSpPr>
        <p:spPr>
          <a:xfrm>
            <a:off x="419100" y="6164267"/>
            <a:ext cx="495300" cy="628907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설명선: 선 75">
            <a:extLst>
              <a:ext uri="{FF2B5EF4-FFF2-40B4-BE49-F238E27FC236}">
                <a16:creationId xmlns:a16="http://schemas.microsoft.com/office/drawing/2014/main" id="{AD344732-F0DC-47FF-51C7-2DC26D18A3AB}"/>
              </a:ext>
            </a:extLst>
          </p:cNvPr>
          <p:cNvSpPr/>
          <p:nvPr/>
        </p:nvSpPr>
        <p:spPr>
          <a:xfrm>
            <a:off x="2771775" y="6483588"/>
            <a:ext cx="1285875" cy="338554"/>
          </a:xfrm>
          <a:prstGeom prst="borderCallout1">
            <a:avLst>
              <a:gd name="adj1" fmla="val 1869"/>
              <a:gd name="adj2" fmla="val -185"/>
              <a:gd name="adj3" fmla="val 87179"/>
              <a:gd name="adj4" fmla="val -143519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unlock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2A51CE6C-9E91-C215-CAF8-99B235170FC8}"/>
              </a:ext>
            </a:extLst>
          </p:cNvPr>
          <p:cNvSpPr/>
          <p:nvPr/>
        </p:nvSpPr>
        <p:spPr>
          <a:xfrm>
            <a:off x="7800975" y="4251347"/>
            <a:ext cx="1253571" cy="1317887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설명선: 선 77">
            <a:extLst>
              <a:ext uri="{FF2B5EF4-FFF2-40B4-BE49-F238E27FC236}">
                <a16:creationId xmlns:a16="http://schemas.microsoft.com/office/drawing/2014/main" id="{4DBAE3E5-6DA2-1067-72C6-4CDCDAAA54AC}"/>
              </a:ext>
            </a:extLst>
          </p:cNvPr>
          <p:cNvSpPr/>
          <p:nvPr/>
        </p:nvSpPr>
        <p:spPr>
          <a:xfrm>
            <a:off x="4525823" y="4525249"/>
            <a:ext cx="1285875" cy="338554"/>
          </a:xfrm>
          <a:prstGeom prst="borderCallout1">
            <a:avLst>
              <a:gd name="adj1" fmla="val 1869"/>
              <a:gd name="adj2" fmla="val -185"/>
              <a:gd name="adj3" fmla="val -73187"/>
              <a:gd name="adj4" fmla="val 25500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input</a:t>
            </a:r>
            <a:r>
              <a:rPr lang="ko-KR" altLang="en-US">
                <a:solidFill>
                  <a:schemeClr val="tx1"/>
                </a:solidFill>
              </a:rPr>
              <a:t> </a:t>
            </a:r>
            <a:r>
              <a:rPr lang="en-US" altLang="ko-KR">
                <a:solidFill>
                  <a:schemeClr val="tx1"/>
                </a:solidFill>
              </a:rPr>
              <a:t>box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9" name="설명선: 선 78">
            <a:extLst>
              <a:ext uri="{FF2B5EF4-FFF2-40B4-BE49-F238E27FC236}">
                <a16:creationId xmlns:a16="http://schemas.microsoft.com/office/drawing/2014/main" id="{ED501DC9-73BB-0C7A-F97A-30465801123A}"/>
              </a:ext>
            </a:extLst>
          </p:cNvPr>
          <p:cNvSpPr/>
          <p:nvPr/>
        </p:nvSpPr>
        <p:spPr>
          <a:xfrm>
            <a:off x="10540862" y="185327"/>
            <a:ext cx="1352963" cy="338554"/>
          </a:xfrm>
          <a:prstGeom prst="borderCallout1">
            <a:avLst>
              <a:gd name="adj1" fmla="val 1869"/>
              <a:gd name="adj2" fmla="val -185"/>
              <a:gd name="adj3" fmla="val 157515"/>
              <a:gd name="adj4" fmla="val -33889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Ad Banner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1BDC2E8E-A453-384F-DCAC-9F8A7FA26D49}"/>
              </a:ext>
            </a:extLst>
          </p:cNvPr>
          <p:cNvSpPr/>
          <p:nvPr/>
        </p:nvSpPr>
        <p:spPr>
          <a:xfrm>
            <a:off x="9981785" y="710143"/>
            <a:ext cx="2029239" cy="5899379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설명선: 선 80">
            <a:extLst>
              <a:ext uri="{FF2B5EF4-FFF2-40B4-BE49-F238E27FC236}">
                <a16:creationId xmlns:a16="http://schemas.microsoft.com/office/drawing/2014/main" id="{2988C25F-2233-C1D3-F324-13DA6012C0E7}"/>
              </a:ext>
            </a:extLst>
          </p:cNvPr>
          <p:cNvSpPr/>
          <p:nvPr/>
        </p:nvSpPr>
        <p:spPr>
          <a:xfrm>
            <a:off x="5353670" y="5603988"/>
            <a:ext cx="1285875" cy="338554"/>
          </a:xfrm>
          <a:prstGeom prst="borderCallout1">
            <a:avLst>
              <a:gd name="adj1" fmla="val 97526"/>
              <a:gd name="adj2" fmla="val 99815"/>
              <a:gd name="adj3" fmla="val 56232"/>
              <a:gd name="adj4" fmla="val 190556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button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2" name="설명선: 선 81">
            <a:extLst>
              <a:ext uri="{FF2B5EF4-FFF2-40B4-BE49-F238E27FC236}">
                <a16:creationId xmlns:a16="http://schemas.microsoft.com/office/drawing/2014/main" id="{D4C650F5-C470-5779-FC31-742F6AFE64A9}"/>
              </a:ext>
            </a:extLst>
          </p:cNvPr>
          <p:cNvSpPr/>
          <p:nvPr/>
        </p:nvSpPr>
        <p:spPr>
          <a:xfrm>
            <a:off x="5353670" y="6239091"/>
            <a:ext cx="1285875" cy="338554"/>
          </a:xfrm>
          <a:prstGeom prst="borderCallout1">
            <a:avLst>
              <a:gd name="adj1" fmla="val 97526"/>
              <a:gd name="adj2" fmla="val 99815"/>
              <a:gd name="adj3" fmla="val 47791"/>
              <a:gd name="adj4" fmla="val 193519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button</a:t>
            </a:r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8468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75FC3-4F78-E882-EF7A-6B7C66166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82C68E3-1BE8-BA6A-4C74-2EDFB8751D18}"/>
              </a:ext>
            </a:extLst>
          </p:cNvPr>
          <p:cNvSpPr/>
          <p:nvPr/>
        </p:nvSpPr>
        <p:spPr>
          <a:xfrm>
            <a:off x="496957" y="1212573"/>
            <a:ext cx="308113" cy="31805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17A2CF-52B6-9E50-3AA8-6D70FEEFD757}"/>
              </a:ext>
            </a:extLst>
          </p:cNvPr>
          <p:cNvSpPr txBox="1"/>
          <p:nvPr/>
        </p:nvSpPr>
        <p:spPr>
          <a:xfrm>
            <a:off x="298174" y="248478"/>
            <a:ext cx="57978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4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1-3. Construction conditions</a:t>
            </a:r>
            <a:endParaRPr lang="ko-KR" altLang="en-US" sz="24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4443CA-28D1-CC11-7C63-0B301A900A06}"/>
              </a:ext>
            </a:extLst>
          </p:cNvPr>
          <p:cNvSpPr txBox="1"/>
          <p:nvPr/>
        </p:nvSpPr>
        <p:spPr>
          <a:xfrm>
            <a:off x="1013791" y="1212573"/>
            <a:ext cx="50822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Excavation width (</a:t>
            </a:r>
            <a:r>
              <a:rPr lang="ko-KR" altLang="en-US" sz="1600">
                <a:latin typeface="HY견고딕" panose="02030600000101010101" pitchFamily="18" charset="-127"/>
                <a:ea typeface="HY견고딕" panose="02030600000101010101" pitchFamily="18" charset="-127"/>
                <a:cs typeface="ADLaM Display" panose="020F0502020204030204" pitchFamily="2" charset="0"/>
              </a:rPr>
              <a:t>굴착 폭</a:t>
            </a:r>
            <a:r>
              <a:rPr lang="en-US" altLang="ko-KR" sz="16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)</a:t>
            </a:r>
            <a:endParaRPr lang="ko-KR" altLang="en-US" sz="16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F262714-069A-75AA-1485-195C3864B5D5}"/>
              </a:ext>
            </a:extLst>
          </p:cNvPr>
          <p:cNvSpPr/>
          <p:nvPr/>
        </p:nvSpPr>
        <p:spPr>
          <a:xfrm>
            <a:off x="6096000" y="1212573"/>
            <a:ext cx="2859157" cy="318052"/>
          </a:xfrm>
          <a:prstGeom prst="rect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DC4E7F-032F-752B-9710-811EF4A36533}"/>
              </a:ext>
            </a:extLst>
          </p:cNvPr>
          <p:cNvSpPr txBox="1"/>
          <p:nvPr/>
        </p:nvSpPr>
        <p:spPr>
          <a:xfrm>
            <a:off x="9054548" y="1212573"/>
            <a:ext cx="13616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m</a:t>
            </a:r>
            <a:endParaRPr lang="ko-KR" altLang="en-US" sz="1600" baseline="300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25C8FF4-9EE5-0E5D-0020-1E34263CCBFF}"/>
              </a:ext>
            </a:extLst>
          </p:cNvPr>
          <p:cNvSpPr/>
          <p:nvPr/>
        </p:nvSpPr>
        <p:spPr>
          <a:xfrm>
            <a:off x="496957" y="1715003"/>
            <a:ext cx="308113" cy="31805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31B6CA-9D02-B281-4825-198110AC8693}"/>
              </a:ext>
            </a:extLst>
          </p:cNvPr>
          <p:cNvSpPr txBox="1"/>
          <p:nvPr/>
        </p:nvSpPr>
        <p:spPr>
          <a:xfrm>
            <a:off x="1013791" y="1715003"/>
            <a:ext cx="50822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Offset</a:t>
            </a:r>
            <a:r>
              <a:rPr lang="ko-KR" altLang="en-US" sz="16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ko-KR" sz="16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wall-foundation</a:t>
            </a:r>
            <a:r>
              <a:rPr lang="ko-KR" altLang="en-US" sz="16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ko-KR" sz="16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(</a:t>
            </a:r>
            <a:r>
              <a:rPr lang="ko-KR" altLang="en-US" sz="1600">
                <a:latin typeface="HY견고딕" panose="02030600000101010101" pitchFamily="18" charset="-127"/>
                <a:ea typeface="HY견고딕" panose="02030600000101010101" pitchFamily="18" charset="-127"/>
                <a:cs typeface="ADLaM Display" panose="020F0502020204030204" pitchFamily="2" charset="0"/>
              </a:rPr>
              <a:t>기초</a:t>
            </a:r>
            <a:r>
              <a:rPr lang="en-US" altLang="ko-KR" sz="1600">
                <a:latin typeface="HY견고딕" panose="02030600000101010101" pitchFamily="18" charset="-127"/>
                <a:ea typeface="HY견고딕" panose="02030600000101010101" pitchFamily="18" charset="-127"/>
                <a:cs typeface="ADLaM Display" panose="020F0502020204030204" pitchFamily="2" charset="0"/>
              </a:rPr>
              <a:t>-</a:t>
            </a:r>
            <a:r>
              <a:rPr lang="ko-KR" altLang="en-US" sz="1600">
                <a:latin typeface="HY견고딕" panose="02030600000101010101" pitchFamily="18" charset="-127"/>
                <a:ea typeface="HY견고딕" panose="02030600000101010101" pitchFamily="18" charset="-127"/>
                <a:cs typeface="ADLaM Display" panose="020F0502020204030204" pitchFamily="2" charset="0"/>
              </a:rPr>
              <a:t>벽체 이격거리</a:t>
            </a:r>
            <a:r>
              <a:rPr lang="en-US" altLang="ko-KR" sz="16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)</a:t>
            </a:r>
            <a:endParaRPr lang="ko-KR" altLang="en-US" sz="16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2A5B418-1BDD-0BAF-B753-0D379E2D9644}"/>
              </a:ext>
            </a:extLst>
          </p:cNvPr>
          <p:cNvSpPr/>
          <p:nvPr/>
        </p:nvSpPr>
        <p:spPr>
          <a:xfrm>
            <a:off x="6096000" y="1715003"/>
            <a:ext cx="2859157" cy="318052"/>
          </a:xfrm>
          <a:prstGeom prst="rect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908987-49ED-B92B-5A8B-DBE4E7B8F214}"/>
              </a:ext>
            </a:extLst>
          </p:cNvPr>
          <p:cNvSpPr txBox="1"/>
          <p:nvPr/>
        </p:nvSpPr>
        <p:spPr>
          <a:xfrm>
            <a:off x="9054548" y="1715003"/>
            <a:ext cx="13616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m</a:t>
            </a:r>
            <a:endParaRPr lang="ko-KR" altLang="en-US" sz="1600" baseline="300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AE2021D-5110-D4D2-6DC8-21A4C2F84801}"/>
              </a:ext>
            </a:extLst>
          </p:cNvPr>
          <p:cNvSpPr/>
          <p:nvPr/>
        </p:nvSpPr>
        <p:spPr>
          <a:xfrm>
            <a:off x="496957" y="2237935"/>
            <a:ext cx="308113" cy="31805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√</a:t>
            </a:r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5487A5-FB44-3B3B-E27B-EE389907929F}"/>
              </a:ext>
            </a:extLst>
          </p:cNvPr>
          <p:cNvSpPr txBox="1"/>
          <p:nvPr/>
        </p:nvSpPr>
        <p:spPr>
          <a:xfrm>
            <a:off x="1013791" y="2237935"/>
            <a:ext cx="50822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Total depth of Wall (</a:t>
            </a:r>
            <a:r>
              <a:rPr lang="ko-KR" altLang="en-US" sz="1600">
                <a:latin typeface="HY견고딕" panose="02030600000101010101" pitchFamily="18" charset="-127"/>
                <a:ea typeface="HY견고딕" panose="02030600000101010101" pitchFamily="18" charset="-127"/>
                <a:cs typeface="ADLaM Display" panose="020F0502020204030204" pitchFamily="2" charset="0"/>
              </a:rPr>
              <a:t>최종 굴착 깊이</a:t>
            </a:r>
            <a:r>
              <a:rPr lang="en-US" altLang="ko-KR" sz="16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)</a:t>
            </a:r>
            <a:endParaRPr lang="ko-KR" altLang="en-US" sz="16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38B5844-2821-9B84-9577-47BCF71A9C32}"/>
              </a:ext>
            </a:extLst>
          </p:cNvPr>
          <p:cNvSpPr/>
          <p:nvPr/>
        </p:nvSpPr>
        <p:spPr>
          <a:xfrm>
            <a:off x="6096000" y="2237935"/>
            <a:ext cx="2859157" cy="318052"/>
          </a:xfrm>
          <a:prstGeom prst="rect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4040C5-039D-4BB7-3FF3-C916893026BE}"/>
              </a:ext>
            </a:extLst>
          </p:cNvPr>
          <p:cNvSpPr txBox="1"/>
          <p:nvPr/>
        </p:nvSpPr>
        <p:spPr>
          <a:xfrm>
            <a:off x="9054548" y="2237935"/>
            <a:ext cx="13616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m</a:t>
            </a:r>
            <a:endParaRPr lang="ko-KR" altLang="en-US" sz="1600" baseline="300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97AE826-39A0-949B-FEF2-C8A81109403C}"/>
              </a:ext>
            </a:extLst>
          </p:cNvPr>
          <p:cNvSpPr/>
          <p:nvPr/>
        </p:nvSpPr>
        <p:spPr>
          <a:xfrm>
            <a:off x="496957" y="2740365"/>
            <a:ext cx="308113" cy="31805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E6352E-95ED-E39E-3C07-7B5F9A69A33F}"/>
              </a:ext>
            </a:extLst>
          </p:cNvPr>
          <p:cNvSpPr txBox="1"/>
          <p:nvPr/>
        </p:nvSpPr>
        <p:spPr>
          <a:xfrm>
            <a:off x="1013791" y="2740365"/>
            <a:ext cx="50822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Actual excavation depth (</a:t>
            </a:r>
            <a:r>
              <a:rPr lang="ko-KR" altLang="en-US" sz="1600">
                <a:latin typeface="HY견고딕" panose="02030600000101010101" pitchFamily="18" charset="-127"/>
                <a:ea typeface="HY견고딕" panose="02030600000101010101" pitchFamily="18" charset="-127"/>
                <a:cs typeface="ADLaM Display" panose="020F0502020204030204" pitchFamily="2" charset="0"/>
              </a:rPr>
              <a:t>현재 굴착 깊이</a:t>
            </a:r>
            <a:r>
              <a:rPr lang="en-US" altLang="ko-KR" sz="16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)</a:t>
            </a:r>
            <a:endParaRPr lang="ko-KR" altLang="en-US" sz="16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F21A122-556E-62BA-3650-D82392B7474E}"/>
              </a:ext>
            </a:extLst>
          </p:cNvPr>
          <p:cNvSpPr/>
          <p:nvPr/>
        </p:nvSpPr>
        <p:spPr>
          <a:xfrm>
            <a:off x="6096000" y="2740365"/>
            <a:ext cx="2859157" cy="318052"/>
          </a:xfrm>
          <a:prstGeom prst="rect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A709A9-646E-2F03-C323-D789A47E8BDB}"/>
              </a:ext>
            </a:extLst>
          </p:cNvPr>
          <p:cNvSpPr txBox="1"/>
          <p:nvPr/>
        </p:nvSpPr>
        <p:spPr>
          <a:xfrm>
            <a:off x="9054548" y="2740365"/>
            <a:ext cx="13616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m</a:t>
            </a:r>
            <a:endParaRPr lang="ko-KR" altLang="en-US" sz="1600" baseline="300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5312328-9589-F84E-9DA5-F6ED77554859}"/>
              </a:ext>
            </a:extLst>
          </p:cNvPr>
          <p:cNvSpPr/>
          <p:nvPr/>
        </p:nvSpPr>
        <p:spPr>
          <a:xfrm>
            <a:off x="496957" y="3242795"/>
            <a:ext cx="308113" cy="31805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20111AE-C957-380F-695E-51E40F95E0D0}"/>
              </a:ext>
            </a:extLst>
          </p:cNvPr>
          <p:cNvSpPr txBox="1"/>
          <p:nvPr/>
        </p:nvSpPr>
        <p:spPr>
          <a:xfrm>
            <a:off x="1013791" y="3242795"/>
            <a:ext cx="50822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Rainfall (</a:t>
            </a:r>
            <a:r>
              <a:rPr lang="ko-KR" altLang="en-US" sz="1600">
                <a:latin typeface="HY견고딕" panose="02030600000101010101" pitchFamily="18" charset="-127"/>
                <a:ea typeface="HY견고딕" panose="02030600000101010101" pitchFamily="18" charset="-127"/>
                <a:cs typeface="ADLaM Display" panose="020F0502020204030204" pitchFamily="2" charset="0"/>
              </a:rPr>
              <a:t>강우량</a:t>
            </a:r>
            <a:r>
              <a:rPr lang="en-US" altLang="ko-KR" sz="16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)</a:t>
            </a:r>
            <a:endParaRPr lang="ko-KR" altLang="en-US" sz="16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79E1409-4C03-8A46-9F04-ED1B9D67C328}"/>
              </a:ext>
            </a:extLst>
          </p:cNvPr>
          <p:cNvSpPr/>
          <p:nvPr/>
        </p:nvSpPr>
        <p:spPr>
          <a:xfrm>
            <a:off x="6096000" y="3242795"/>
            <a:ext cx="2859157" cy="318052"/>
          </a:xfrm>
          <a:prstGeom prst="rect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670A85D-7D50-B404-BD91-AA6FC3324D8A}"/>
              </a:ext>
            </a:extLst>
          </p:cNvPr>
          <p:cNvSpPr txBox="1"/>
          <p:nvPr/>
        </p:nvSpPr>
        <p:spPr>
          <a:xfrm>
            <a:off x="9054548" y="3242795"/>
            <a:ext cx="13616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mm/h</a:t>
            </a:r>
            <a:endParaRPr lang="ko-KR" altLang="en-US" sz="1600" baseline="300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3D36C8C-A896-F42D-46EC-C2B37026BD15}"/>
              </a:ext>
            </a:extLst>
          </p:cNvPr>
          <p:cNvSpPr/>
          <p:nvPr/>
        </p:nvSpPr>
        <p:spPr>
          <a:xfrm>
            <a:off x="496957" y="3765727"/>
            <a:ext cx="308113" cy="31805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5ED9A55-DF4E-8334-B8AE-DB13AED6725E}"/>
              </a:ext>
            </a:extLst>
          </p:cNvPr>
          <p:cNvSpPr txBox="1"/>
          <p:nvPr/>
        </p:nvSpPr>
        <p:spPr>
          <a:xfrm>
            <a:off x="1013791" y="3765727"/>
            <a:ext cx="50822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Duration of Rainfall (</a:t>
            </a:r>
            <a:r>
              <a:rPr lang="ko-KR" altLang="en-US" sz="1600">
                <a:latin typeface="HY견고딕" panose="02030600000101010101" pitchFamily="18" charset="-127"/>
                <a:ea typeface="HY견고딕" panose="02030600000101010101" pitchFamily="18" charset="-127"/>
                <a:cs typeface="ADLaM Display" panose="020F0502020204030204" pitchFamily="2" charset="0"/>
              </a:rPr>
              <a:t>강우지속시간</a:t>
            </a:r>
            <a:r>
              <a:rPr lang="en-US" altLang="ko-KR" sz="16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)</a:t>
            </a:r>
            <a:endParaRPr lang="ko-KR" altLang="en-US" sz="16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9FB6B58-C433-7C82-D39C-FC5F672499DA}"/>
              </a:ext>
            </a:extLst>
          </p:cNvPr>
          <p:cNvSpPr/>
          <p:nvPr/>
        </p:nvSpPr>
        <p:spPr>
          <a:xfrm>
            <a:off x="6096000" y="3765727"/>
            <a:ext cx="2859157" cy="318052"/>
          </a:xfrm>
          <a:prstGeom prst="rect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7C37562-F1B4-6D75-FC08-F3528B71D2E5}"/>
              </a:ext>
            </a:extLst>
          </p:cNvPr>
          <p:cNvSpPr txBox="1"/>
          <p:nvPr/>
        </p:nvSpPr>
        <p:spPr>
          <a:xfrm>
            <a:off x="9054548" y="3765727"/>
            <a:ext cx="13616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>
                <a:latin typeface="ADLaM Display" panose="020F0502020204030204" pitchFamily="2" charset="0"/>
                <a:cs typeface="ADLaM Display" panose="020F0502020204030204" pitchFamily="2" charset="0"/>
              </a:rPr>
              <a:t>hour</a:t>
            </a:r>
            <a:endParaRPr lang="ko-KR" altLang="en-US" sz="16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43743EC6-C0D6-5A91-02CC-7FBE9A3603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" r="64111" b="700"/>
          <a:stretch>
            <a:fillRect/>
          </a:stretch>
        </p:blipFill>
        <p:spPr>
          <a:xfrm>
            <a:off x="496958" y="5599263"/>
            <a:ext cx="346006" cy="461666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F3BE3EB-CADC-E917-67A2-30183AD454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528"/>
          <a:stretch>
            <a:fillRect/>
          </a:stretch>
        </p:blipFill>
        <p:spPr>
          <a:xfrm>
            <a:off x="496957" y="6207786"/>
            <a:ext cx="346006" cy="464919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6988BAF-B2B5-D374-5280-20ECA2EC6886}"/>
              </a:ext>
            </a:extLst>
          </p:cNvPr>
          <p:cNvSpPr txBox="1"/>
          <p:nvPr/>
        </p:nvSpPr>
        <p:spPr>
          <a:xfrm>
            <a:off x="1013791" y="5660819"/>
            <a:ext cx="50822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>
                <a:latin typeface="ADLaM Display" panose="020F0502020204030204" pitchFamily="2" charset="0"/>
                <a:cs typeface="ADLaM Display" panose="020F0502020204030204" pitchFamily="2" charset="0"/>
              </a:rPr>
              <a:t>Fix value</a:t>
            </a:r>
            <a:endParaRPr lang="ko-KR" altLang="en-US" sz="16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DCDBAE2-2DA6-99B5-96DC-D836B05421A0}"/>
              </a:ext>
            </a:extLst>
          </p:cNvPr>
          <p:cNvSpPr txBox="1"/>
          <p:nvPr/>
        </p:nvSpPr>
        <p:spPr>
          <a:xfrm>
            <a:off x="1013791" y="6270968"/>
            <a:ext cx="50822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>
                <a:latin typeface="ADLaM Display" panose="020F0502020204030204" pitchFamily="2" charset="0"/>
                <a:cs typeface="ADLaM Display" panose="020F0502020204030204" pitchFamily="2" charset="0"/>
              </a:rPr>
              <a:t>Edit value</a:t>
            </a:r>
            <a:endParaRPr lang="ko-KR" altLang="en-US" sz="16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85E83587-E881-BB1B-93B9-2516682EE2F5}"/>
              </a:ext>
            </a:extLst>
          </p:cNvPr>
          <p:cNvSpPr/>
          <p:nvPr/>
        </p:nvSpPr>
        <p:spPr>
          <a:xfrm>
            <a:off x="7810500" y="5664337"/>
            <a:ext cx="1924050" cy="3385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save</a:t>
            </a:r>
            <a:endParaRPr lang="ko-KR" altLang="en-US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83A3DBB5-B00B-3628-6E97-3C2D70D17C14}"/>
              </a:ext>
            </a:extLst>
          </p:cNvPr>
          <p:cNvSpPr/>
          <p:nvPr/>
        </p:nvSpPr>
        <p:spPr>
          <a:xfrm>
            <a:off x="7810500" y="6270968"/>
            <a:ext cx="1924050" cy="3385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next</a:t>
            </a:r>
            <a:endParaRPr lang="ko-KR" altLang="en-US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4" name="설명선: 선 23">
            <a:extLst>
              <a:ext uri="{FF2B5EF4-FFF2-40B4-BE49-F238E27FC236}">
                <a16:creationId xmlns:a16="http://schemas.microsoft.com/office/drawing/2014/main" id="{D8006FFE-5681-6E71-19C1-6211F52341B7}"/>
              </a:ext>
            </a:extLst>
          </p:cNvPr>
          <p:cNvSpPr/>
          <p:nvPr/>
        </p:nvSpPr>
        <p:spPr>
          <a:xfrm>
            <a:off x="1333500" y="780621"/>
            <a:ext cx="1285875" cy="338554"/>
          </a:xfrm>
          <a:prstGeom prst="borderCallout1">
            <a:avLst>
              <a:gd name="adj1" fmla="val 1869"/>
              <a:gd name="adj2" fmla="val -185"/>
              <a:gd name="adj3" fmla="val 101246"/>
              <a:gd name="adj4" fmla="val -33889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check box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1278ACD-49C4-0870-6A84-BFFF2A0C53EE}"/>
              </a:ext>
            </a:extLst>
          </p:cNvPr>
          <p:cNvSpPr/>
          <p:nvPr/>
        </p:nvSpPr>
        <p:spPr>
          <a:xfrm>
            <a:off x="298174" y="1119175"/>
            <a:ext cx="616226" cy="3063363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340E6DC-5473-D9C1-A51E-C638CB0F12B6}"/>
              </a:ext>
            </a:extLst>
          </p:cNvPr>
          <p:cNvSpPr/>
          <p:nvPr/>
        </p:nvSpPr>
        <p:spPr>
          <a:xfrm>
            <a:off x="5996608" y="1113651"/>
            <a:ext cx="3057939" cy="3063364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설명선: 선 26">
            <a:extLst>
              <a:ext uri="{FF2B5EF4-FFF2-40B4-BE49-F238E27FC236}">
                <a16:creationId xmlns:a16="http://schemas.microsoft.com/office/drawing/2014/main" id="{2504F721-32A9-C59B-F3BF-12E87F9A4C30}"/>
              </a:ext>
            </a:extLst>
          </p:cNvPr>
          <p:cNvSpPr/>
          <p:nvPr/>
        </p:nvSpPr>
        <p:spPr>
          <a:xfrm>
            <a:off x="7141679" y="523881"/>
            <a:ext cx="1285875" cy="338554"/>
          </a:xfrm>
          <a:prstGeom prst="borderCallout1">
            <a:avLst>
              <a:gd name="adj1" fmla="val 1869"/>
              <a:gd name="adj2" fmla="val -185"/>
              <a:gd name="adj3" fmla="val 171582"/>
              <a:gd name="adj4" fmla="val -3611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input</a:t>
            </a:r>
            <a:r>
              <a:rPr lang="ko-KR" altLang="en-US">
                <a:solidFill>
                  <a:schemeClr val="tx1"/>
                </a:solidFill>
              </a:rPr>
              <a:t> </a:t>
            </a:r>
            <a:r>
              <a:rPr lang="en-US" altLang="ko-KR">
                <a:solidFill>
                  <a:schemeClr val="tx1"/>
                </a:solidFill>
              </a:rPr>
              <a:t>box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ACAF976-A087-9173-C43D-77FB478567D3}"/>
              </a:ext>
            </a:extLst>
          </p:cNvPr>
          <p:cNvSpPr/>
          <p:nvPr/>
        </p:nvSpPr>
        <p:spPr>
          <a:xfrm>
            <a:off x="419100" y="5505450"/>
            <a:ext cx="495300" cy="628907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설명선: 선 28">
            <a:extLst>
              <a:ext uri="{FF2B5EF4-FFF2-40B4-BE49-F238E27FC236}">
                <a16:creationId xmlns:a16="http://schemas.microsoft.com/office/drawing/2014/main" id="{C5C78B9C-3072-4507-8677-A63AE230A73A}"/>
              </a:ext>
            </a:extLst>
          </p:cNvPr>
          <p:cNvSpPr/>
          <p:nvPr/>
        </p:nvSpPr>
        <p:spPr>
          <a:xfrm>
            <a:off x="1333500" y="5186468"/>
            <a:ext cx="1285875" cy="338554"/>
          </a:xfrm>
          <a:prstGeom prst="borderCallout1">
            <a:avLst>
              <a:gd name="adj1" fmla="val 1869"/>
              <a:gd name="adj2" fmla="val -185"/>
              <a:gd name="adj3" fmla="val 101246"/>
              <a:gd name="adj4" fmla="val -33889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lock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1ECA746F-FD78-5E38-1208-32B8441859CF}"/>
              </a:ext>
            </a:extLst>
          </p:cNvPr>
          <p:cNvSpPr/>
          <p:nvPr/>
        </p:nvSpPr>
        <p:spPr>
          <a:xfrm>
            <a:off x="419100" y="6164267"/>
            <a:ext cx="495300" cy="628907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설명선: 선 44">
            <a:extLst>
              <a:ext uri="{FF2B5EF4-FFF2-40B4-BE49-F238E27FC236}">
                <a16:creationId xmlns:a16="http://schemas.microsoft.com/office/drawing/2014/main" id="{5E176E5B-3233-94E7-9A9B-453DB849537B}"/>
              </a:ext>
            </a:extLst>
          </p:cNvPr>
          <p:cNvSpPr/>
          <p:nvPr/>
        </p:nvSpPr>
        <p:spPr>
          <a:xfrm>
            <a:off x="2771775" y="6483588"/>
            <a:ext cx="1285875" cy="338554"/>
          </a:xfrm>
          <a:prstGeom prst="borderCallout1">
            <a:avLst>
              <a:gd name="adj1" fmla="val 1869"/>
              <a:gd name="adj2" fmla="val -185"/>
              <a:gd name="adj3" fmla="val 87179"/>
              <a:gd name="adj4" fmla="val -143519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unlock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6" name="설명선: 선 45">
            <a:extLst>
              <a:ext uri="{FF2B5EF4-FFF2-40B4-BE49-F238E27FC236}">
                <a16:creationId xmlns:a16="http://schemas.microsoft.com/office/drawing/2014/main" id="{30059573-6EDC-18AF-810F-FC6AA448EC17}"/>
              </a:ext>
            </a:extLst>
          </p:cNvPr>
          <p:cNvSpPr/>
          <p:nvPr/>
        </p:nvSpPr>
        <p:spPr>
          <a:xfrm>
            <a:off x="10540862" y="185327"/>
            <a:ext cx="1352963" cy="338554"/>
          </a:xfrm>
          <a:prstGeom prst="borderCallout1">
            <a:avLst>
              <a:gd name="adj1" fmla="val 1869"/>
              <a:gd name="adj2" fmla="val -185"/>
              <a:gd name="adj3" fmla="val 157515"/>
              <a:gd name="adj4" fmla="val -33889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Ad Banner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63A36AEF-7576-22CD-96FF-D4AF996E825C}"/>
              </a:ext>
            </a:extLst>
          </p:cNvPr>
          <p:cNvSpPr/>
          <p:nvPr/>
        </p:nvSpPr>
        <p:spPr>
          <a:xfrm>
            <a:off x="9981785" y="710143"/>
            <a:ext cx="2029239" cy="5899379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설명선: 선 47">
            <a:extLst>
              <a:ext uri="{FF2B5EF4-FFF2-40B4-BE49-F238E27FC236}">
                <a16:creationId xmlns:a16="http://schemas.microsoft.com/office/drawing/2014/main" id="{55406147-B836-41BE-E2C8-328A5369F150}"/>
              </a:ext>
            </a:extLst>
          </p:cNvPr>
          <p:cNvSpPr/>
          <p:nvPr/>
        </p:nvSpPr>
        <p:spPr>
          <a:xfrm>
            <a:off x="5353670" y="5603988"/>
            <a:ext cx="1285875" cy="338554"/>
          </a:xfrm>
          <a:prstGeom prst="borderCallout1">
            <a:avLst>
              <a:gd name="adj1" fmla="val 97526"/>
              <a:gd name="adj2" fmla="val 99815"/>
              <a:gd name="adj3" fmla="val 56232"/>
              <a:gd name="adj4" fmla="val 190556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button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9" name="설명선: 선 48">
            <a:extLst>
              <a:ext uri="{FF2B5EF4-FFF2-40B4-BE49-F238E27FC236}">
                <a16:creationId xmlns:a16="http://schemas.microsoft.com/office/drawing/2014/main" id="{BBEDA64E-900B-5FFB-9307-393CCF08FE56}"/>
              </a:ext>
            </a:extLst>
          </p:cNvPr>
          <p:cNvSpPr/>
          <p:nvPr/>
        </p:nvSpPr>
        <p:spPr>
          <a:xfrm>
            <a:off x="5353670" y="6239091"/>
            <a:ext cx="1285875" cy="338554"/>
          </a:xfrm>
          <a:prstGeom prst="borderCallout1">
            <a:avLst>
              <a:gd name="adj1" fmla="val 97526"/>
              <a:gd name="adj2" fmla="val 99815"/>
              <a:gd name="adj3" fmla="val 47791"/>
              <a:gd name="adj4" fmla="val 193519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button</a:t>
            </a:r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8971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B4D64-F1F8-DA01-2B96-08F2F0512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>
            <a:extLst>
              <a:ext uri="{FF2B5EF4-FFF2-40B4-BE49-F238E27FC236}">
                <a16:creationId xmlns:a16="http://schemas.microsoft.com/office/drawing/2014/main" id="{1C3AE35C-99FD-1900-9A95-EA360D215044}"/>
              </a:ext>
            </a:extLst>
          </p:cNvPr>
          <p:cNvSpPr txBox="1"/>
          <p:nvPr/>
        </p:nvSpPr>
        <p:spPr>
          <a:xfrm>
            <a:off x="298174" y="201742"/>
            <a:ext cx="57978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4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Prediction</a:t>
            </a:r>
            <a:endParaRPr lang="ko-KR" altLang="en-US" sz="24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206BB6B9-0696-FCA4-C823-4609F2DF4515}"/>
              </a:ext>
            </a:extLst>
          </p:cNvPr>
          <p:cNvSpPr/>
          <p:nvPr/>
        </p:nvSpPr>
        <p:spPr>
          <a:xfrm>
            <a:off x="7064239" y="6118915"/>
            <a:ext cx="1924050" cy="3385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predict</a:t>
            </a:r>
            <a:endParaRPr lang="ko-KR" altLang="en-US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48505CD-32E5-E838-C4D6-5BDC7075E9E1}"/>
              </a:ext>
            </a:extLst>
          </p:cNvPr>
          <p:cNvSpPr txBox="1"/>
          <p:nvPr/>
        </p:nvSpPr>
        <p:spPr>
          <a:xfrm>
            <a:off x="907774" y="789456"/>
            <a:ext cx="26235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16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① </a:t>
            </a:r>
            <a:r>
              <a:rPr lang="en-US" altLang="ko-KR" sz="16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Monitoring point</a:t>
            </a:r>
            <a:endParaRPr lang="ko-KR" altLang="en-US" sz="16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271FEA8C-2045-24C0-5CE5-C66E35736D89}"/>
              </a:ext>
            </a:extLst>
          </p:cNvPr>
          <p:cNvSpPr/>
          <p:nvPr/>
        </p:nvSpPr>
        <p:spPr>
          <a:xfrm>
            <a:off x="3881232" y="789456"/>
            <a:ext cx="933036" cy="318052"/>
          </a:xfrm>
          <a:prstGeom prst="rect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75868B7-F6AC-A9B1-B638-D6A3294BE68F}"/>
              </a:ext>
            </a:extLst>
          </p:cNvPr>
          <p:cNvSpPr txBox="1"/>
          <p:nvPr/>
        </p:nvSpPr>
        <p:spPr>
          <a:xfrm>
            <a:off x="3554895" y="789456"/>
            <a:ext cx="3027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X</a:t>
            </a:r>
            <a:endParaRPr lang="ko-KR" altLang="en-US" sz="16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8259FA2D-AE7E-92FE-1EAD-AF9FF4A78928}"/>
              </a:ext>
            </a:extLst>
          </p:cNvPr>
          <p:cNvSpPr/>
          <p:nvPr/>
        </p:nvSpPr>
        <p:spPr>
          <a:xfrm>
            <a:off x="5140604" y="789456"/>
            <a:ext cx="933036" cy="318052"/>
          </a:xfrm>
          <a:prstGeom prst="rect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62B098-CC96-180F-23BF-A82C3B32EE39}"/>
              </a:ext>
            </a:extLst>
          </p:cNvPr>
          <p:cNvSpPr txBox="1"/>
          <p:nvPr/>
        </p:nvSpPr>
        <p:spPr>
          <a:xfrm>
            <a:off x="4814267" y="789456"/>
            <a:ext cx="3027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>
                <a:latin typeface="ADLaM Display" panose="020F0502020204030204" pitchFamily="2" charset="0"/>
                <a:cs typeface="ADLaM Display" panose="020F0502020204030204" pitchFamily="2" charset="0"/>
              </a:rPr>
              <a:t>y</a:t>
            </a:r>
            <a:endParaRPr lang="ko-KR" altLang="en-US" sz="16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9FE312E-F200-04B5-C67D-B6D4BE1D306D}"/>
              </a:ext>
            </a:extLst>
          </p:cNvPr>
          <p:cNvSpPr txBox="1"/>
          <p:nvPr/>
        </p:nvSpPr>
        <p:spPr>
          <a:xfrm>
            <a:off x="907774" y="1791836"/>
            <a:ext cx="26235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>
                <a:solidFill>
                  <a:schemeClr val="tx1">
                    <a:lumMod val="50000"/>
                    <a:lumOff val="50000"/>
                  </a:schemeClr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+</a:t>
            </a:r>
            <a:r>
              <a:rPr lang="ko-KR" alt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ko-KR" sz="1600">
                <a:solidFill>
                  <a:schemeClr val="tx1">
                    <a:lumMod val="50000"/>
                    <a:lumOff val="50000"/>
                  </a:schemeClr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Add Monitoring point</a:t>
            </a:r>
            <a:endParaRPr lang="ko-KR" altLang="en-US" sz="1600">
              <a:solidFill>
                <a:schemeClr val="tx1">
                  <a:lumMod val="50000"/>
                  <a:lumOff val="50000"/>
                </a:schemeClr>
              </a:solidFill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A02B5723-70D5-146F-276A-F1E948430A03}"/>
              </a:ext>
            </a:extLst>
          </p:cNvPr>
          <p:cNvSpPr/>
          <p:nvPr/>
        </p:nvSpPr>
        <p:spPr>
          <a:xfrm>
            <a:off x="907774" y="1664166"/>
            <a:ext cx="2793723" cy="593893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설명선: 선 60">
            <a:extLst>
              <a:ext uri="{FF2B5EF4-FFF2-40B4-BE49-F238E27FC236}">
                <a16:creationId xmlns:a16="http://schemas.microsoft.com/office/drawing/2014/main" id="{352940D9-5ADB-5F5E-77C1-6914CEF90E21}"/>
              </a:ext>
            </a:extLst>
          </p:cNvPr>
          <p:cNvSpPr/>
          <p:nvPr/>
        </p:nvSpPr>
        <p:spPr>
          <a:xfrm>
            <a:off x="6753225" y="388490"/>
            <a:ext cx="1285875" cy="338554"/>
          </a:xfrm>
          <a:prstGeom prst="borderCallout1">
            <a:avLst>
              <a:gd name="adj1" fmla="val 1869"/>
              <a:gd name="adj2" fmla="val -185"/>
              <a:gd name="adj3" fmla="val 171582"/>
              <a:gd name="adj4" fmla="val -3611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input</a:t>
            </a:r>
            <a:r>
              <a:rPr lang="ko-KR" altLang="en-US">
                <a:solidFill>
                  <a:schemeClr val="tx1"/>
                </a:solidFill>
              </a:rPr>
              <a:t> </a:t>
            </a:r>
            <a:r>
              <a:rPr lang="en-US" altLang="ko-KR">
                <a:solidFill>
                  <a:schemeClr val="tx1"/>
                </a:solidFill>
              </a:rPr>
              <a:t>box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2" name="설명선: 선 61">
            <a:extLst>
              <a:ext uri="{FF2B5EF4-FFF2-40B4-BE49-F238E27FC236}">
                <a16:creationId xmlns:a16="http://schemas.microsoft.com/office/drawing/2014/main" id="{EE15DB9D-A54D-483A-D1E7-C3388B40ACBB}"/>
              </a:ext>
            </a:extLst>
          </p:cNvPr>
          <p:cNvSpPr/>
          <p:nvPr/>
        </p:nvSpPr>
        <p:spPr>
          <a:xfrm>
            <a:off x="4347750" y="1504856"/>
            <a:ext cx="1285875" cy="338554"/>
          </a:xfrm>
          <a:prstGeom prst="borderCallout1">
            <a:avLst>
              <a:gd name="adj1" fmla="val 1869"/>
              <a:gd name="adj2" fmla="val -185"/>
              <a:gd name="adj3" fmla="val 106873"/>
              <a:gd name="adj4" fmla="val -50926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button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D4355973-06B6-E5D6-7514-F8F129DFA7EC}"/>
              </a:ext>
            </a:extLst>
          </p:cNvPr>
          <p:cNvSpPr/>
          <p:nvPr/>
        </p:nvSpPr>
        <p:spPr>
          <a:xfrm>
            <a:off x="6753225" y="6003868"/>
            <a:ext cx="2793723" cy="593893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설명선: 선 63">
            <a:extLst>
              <a:ext uri="{FF2B5EF4-FFF2-40B4-BE49-F238E27FC236}">
                <a16:creationId xmlns:a16="http://schemas.microsoft.com/office/drawing/2014/main" id="{3143D680-96CD-5A11-6D83-CFE011C6EF8E}"/>
              </a:ext>
            </a:extLst>
          </p:cNvPr>
          <p:cNvSpPr/>
          <p:nvPr/>
        </p:nvSpPr>
        <p:spPr>
          <a:xfrm>
            <a:off x="5057775" y="6164267"/>
            <a:ext cx="1285875" cy="338554"/>
          </a:xfrm>
          <a:prstGeom prst="borderCallout1">
            <a:avLst>
              <a:gd name="adj1" fmla="val 1869"/>
              <a:gd name="adj2" fmla="val 99074"/>
              <a:gd name="adj3" fmla="val -45053"/>
              <a:gd name="adj4" fmla="val 133519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button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BE16FE82-F4A7-9A61-28C9-FC7D5C96792D}"/>
              </a:ext>
            </a:extLst>
          </p:cNvPr>
          <p:cNvSpPr/>
          <p:nvPr/>
        </p:nvSpPr>
        <p:spPr>
          <a:xfrm>
            <a:off x="3549926" y="651535"/>
            <a:ext cx="2793724" cy="593893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설명선: 선 65">
            <a:extLst>
              <a:ext uri="{FF2B5EF4-FFF2-40B4-BE49-F238E27FC236}">
                <a16:creationId xmlns:a16="http://schemas.microsoft.com/office/drawing/2014/main" id="{7AD86C8A-306E-06A0-07ED-5ECFCC3B0D91}"/>
              </a:ext>
            </a:extLst>
          </p:cNvPr>
          <p:cNvSpPr/>
          <p:nvPr/>
        </p:nvSpPr>
        <p:spPr>
          <a:xfrm>
            <a:off x="10540862" y="185327"/>
            <a:ext cx="1352963" cy="338554"/>
          </a:xfrm>
          <a:prstGeom prst="borderCallout1">
            <a:avLst>
              <a:gd name="adj1" fmla="val 1869"/>
              <a:gd name="adj2" fmla="val -185"/>
              <a:gd name="adj3" fmla="val 157515"/>
              <a:gd name="adj4" fmla="val -33889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Ad Banner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4896FB64-71EE-25BF-F7FF-7AB8B4A6B109}"/>
              </a:ext>
            </a:extLst>
          </p:cNvPr>
          <p:cNvSpPr/>
          <p:nvPr/>
        </p:nvSpPr>
        <p:spPr>
          <a:xfrm>
            <a:off x="9981785" y="710143"/>
            <a:ext cx="2029239" cy="5899379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618215B4-257C-AAE8-D458-112C72D490E4}"/>
              </a:ext>
            </a:extLst>
          </p:cNvPr>
          <p:cNvSpPr/>
          <p:nvPr/>
        </p:nvSpPr>
        <p:spPr>
          <a:xfrm>
            <a:off x="7064239" y="5525022"/>
            <a:ext cx="1924050" cy="3385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save</a:t>
            </a:r>
            <a:endParaRPr lang="ko-KR" altLang="en-US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304E7832-C7FF-EB6C-4153-B7A23AC45031}"/>
              </a:ext>
            </a:extLst>
          </p:cNvPr>
          <p:cNvSpPr/>
          <p:nvPr/>
        </p:nvSpPr>
        <p:spPr>
          <a:xfrm>
            <a:off x="496957" y="820442"/>
            <a:ext cx="308113" cy="31805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설명선: 선 74">
            <a:extLst>
              <a:ext uri="{FF2B5EF4-FFF2-40B4-BE49-F238E27FC236}">
                <a16:creationId xmlns:a16="http://schemas.microsoft.com/office/drawing/2014/main" id="{CBB52A95-F0F8-110E-2CBC-4713A050CFE3}"/>
              </a:ext>
            </a:extLst>
          </p:cNvPr>
          <p:cNvSpPr/>
          <p:nvPr/>
        </p:nvSpPr>
        <p:spPr>
          <a:xfrm>
            <a:off x="805070" y="2820299"/>
            <a:ext cx="1285875" cy="338554"/>
          </a:xfrm>
          <a:prstGeom prst="borderCallout1">
            <a:avLst>
              <a:gd name="adj1" fmla="val 1869"/>
              <a:gd name="adj2" fmla="val -185"/>
              <a:gd name="adj3" fmla="val -471227"/>
              <a:gd name="adj4" fmla="val -26932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check box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85672197-0309-ED3F-0FF0-499258330554}"/>
              </a:ext>
            </a:extLst>
          </p:cNvPr>
          <p:cNvSpPr/>
          <p:nvPr/>
        </p:nvSpPr>
        <p:spPr>
          <a:xfrm>
            <a:off x="298174" y="727045"/>
            <a:ext cx="616226" cy="518384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7" name="그림 76">
            <a:extLst>
              <a:ext uri="{FF2B5EF4-FFF2-40B4-BE49-F238E27FC236}">
                <a16:creationId xmlns:a16="http://schemas.microsoft.com/office/drawing/2014/main" id="{4D2C5543-6191-2B00-92D5-1EFC82F726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" r="64111" b="700"/>
          <a:stretch>
            <a:fillRect/>
          </a:stretch>
        </p:blipFill>
        <p:spPr>
          <a:xfrm>
            <a:off x="496958" y="5599263"/>
            <a:ext cx="346006" cy="461666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</p:pic>
      <p:pic>
        <p:nvPicPr>
          <p:cNvPr id="78" name="그림 77">
            <a:extLst>
              <a:ext uri="{FF2B5EF4-FFF2-40B4-BE49-F238E27FC236}">
                <a16:creationId xmlns:a16="http://schemas.microsoft.com/office/drawing/2014/main" id="{B5FE0FDA-2635-353B-B235-EC147EAD6F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528"/>
          <a:stretch>
            <a:fillRect/>
          </a:stretch>
        </p:blipFill>
        <p:spPr>
          <a:xfrm>
            <a:off x="496957" y="6207786"/>
            <a:ext cx="346006" cy="464919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</p:pic>
      <p:sp>
        <p:nvSpPr>
          <p:cNvPr id="79" name="직사각형 78">
            <a:extLst>
              <a:ext uri="{FF2B5EF4-FFF2-40B4-BE49-F238E27FC236}">
                <a16:creationId xmlns:a16="http://schemas.microsoft.com/office/drawing/2014/main" id="{4A7A7DD8-7436-18A9-8E8E-E98D96CAA189}"/>
              </a:ext>
            </a:extLst>
          </p:cNvPr>
          <p:cNvSpPr/>
          <p:nvPr/>
        </p:nvSpPr>
        <p:spPr>
          <a:xfrm>
            <a:off x="419100" y="5505450"/>
            <a:ext cx="495300" cy="628907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설명선: 선 79">
            <a:extLst>
              <a:ext uri="{FF2B5EF4-FFF2-40B4-BE49-F238E27FC236}">
                <a16:creationId xmlns:a16="http://schemas.microsoft.com/office/drawing/2014/main" id="{14F39DD8-D623-7C2F-23C3-17B741C32FA7}"/>
              </a:ext>
            </a:extLst>
          </p:cNvPr>
          <p:cNvSpPr/>
          <p:nvPr/>
        </p:nvSpPr>
        <p:spPr>
          <a:xfrm>
            <a:off x="1333500" y="5186468"/>
            <a:ext cx="1285875" cy="338554"/>
          </a:xfrm>
          <a:prstGeom prst="borderCallout1">
            <a:avLst>
              <a:gd name="adj1" fmla="val 1869"/>
              <a:gd name="adj2" fmla="val -185"/>
              <a:gd name="adj3" fmla="val 101246"/>
              <a:gd name="adj4" fmla="val -33889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lock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1E5AB8EA-8CDF-6F09-E4FE-04276517A414}"/>
              </a:ext>
            </a:extLst>
          </p:cNvPr>
          <p:cNvSpPr/>
          <p:nvPr/>
        </p:nvSpPr>
        <p:spPr>
          <a:xfrm>
            <a:off x="419100" y="6164267"/>
            <a:ext cx="495300" cy="628907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설명선: 선 81">
            <a:extLst>
              <a:ext uri="{FF2B5EF4-FFF2-40B4-BE49-F238E27FC236}">
                <a16:creationId xmlns:a16="http://schemas.microsoft.com/office/drawing/2014/main" id="{04871692-BD92-7E51-EC13-D485C3C4ADF8}"/>
              </a:ext>
            </a:extLst>
          </p:cNvPr>
          <p:cNvSpPr/>
          <p:nvPr/>
        </p:nvSpPr>
        <p:spPr>
          <a:xfrm>
            <a:off x="2771775" y="6483588"/>
            <a:ext cx="1285875" cy="338554"/>
          </a:xfrm>
          <a:prstGeom prst="borderCallout1">
            <a:avLst>
              <a:gd name="adj1" fmla="val 1869"/>
              <a:gd name="adj2" fmla="val -185"/>
              <a:gd name="adj3" fmla="val 87179"/>
              <a:gd name="adj4" fmla="val -143519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unlock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29D00745-219B-7971-1AB6-D389CFFEC41B}"/>
              </a:ext>
            </a:extLst>
          </p:cNvPr>
          <p:cNvSpPr/>
          <p:nvPr/>
        </p:nvSpPr>
        <p:spPr>
          <a:xfrm>
            <a:off x="7064239" y="5015754"/>
            <a:ext cx="1924050" cy="3385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delete</a:t>
            </a:r>
            <a:endParaRPr lang="ko-KR" altLang="en-US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1AEFFF4-283C-4FEB-8954-4CBAA5EE2FA8}"/>
              </a:ext>
            </a:extLst>
          </p:cNvPr>
          <p:cNvSpPr txBox="1"/>
          <p:nvPr/>
        </p:nvSpPr>
        <p:spPr>
          <a:xfrm>
            <a:off x="1013791" y="5660819"/>
            <a:ext cx="50822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>
                <a:latin typeface="ADLaM Display" panose="020F0502020204030204" pitchFamily="2" charset="0"/>
                <a:cs typeface="ADLaM Display" panose="020F0502020204030204" pitchFamily="2" charset="0"/>
              </a:rPr>
              <a:t>Fix value</a:t>
            </a:r>
            <a:endParaRPr lang="ko-KR" altLang="en-US" sz="16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24C81B8-6BAA-C042-177B-7B7FB76DD584}"/>
              </a:ext>
            </a:extLst>
          </p:cNvPr>
          <p:cNvSpPr txBox="1"/>
          <p:nvPr/>
        </p:nvSpPr>
        <p:spPr>
          <a:xfrm>
            <a:off x="1013791" y="6270968"/>
            <a:ext cx="50822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>
                <a:latin typeface="ADLaM Display" panose="020F0502020204030204" pitchFamily="2" charset="0"/>
                <a:cs typeface="ADLaM Display" panose="020F0502020204030204" pitchFamily="2" charset="0"/>
              </a:rPr>
              <a:t>Edit value</a:t>
            </a:r>
            <a:endParaRPr lang="ko-KR" altLang="en-US" sz="16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67C12818-0F46-BCCA-9196-0661E0F20313}"/>
              </a:ext>
            </a:extLst>
          </p:cNvPr>
          <p:cNvSpPr/>
          <p:nvPr/>
        </p:nvSpPr>
        <p:spPr>
          <a:xfrm>
            <a:off x="6753225" y="5469355"/>
            <a:ext cx="2793723" cy="464720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설명선: 선 86">
            <a:extLst>
              <a:ext uri="{FF2B5EF4-FFF2-40B4-BE49-F238E27FC236}">
                <a16:creationId xmlns:a16="http://schemas.microsoft.com/office/drawing/2014/main" id="{1E72512E-3583-3A47-613A-F3AEE9CA3968}"/>
              </a:ext>
            </a:extLst>
          </p:cNvPr>
          <p:cNvSpPr/>
          <p:nvPr/>
        </p:nvSpPr>
        <p:spPr>
          <a:xfrm>
            <a:off x="5057775" y="5507251"/>
            <a:ext cx="1285875" cy="338554"/>
          </a:xfrm>
          <a:prstGeom prst="borderCallout1">
            <a:avLst>
              <a:gd name="adj1" fmla="val 1869"/>
              <a:gd name="adj2" fmla="val 99074"/>
              <a:gd name="adj3" fmla="val -11292"/>
              <a:gd name="adj4" fmla="val 13129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button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CDB40690-6313-3765-376B-49D705B2C991}"/>
              </a:ext>
            </a:extLst>
          </p:cNvPr>
          <p:cNvSpPr/>
          <p:nvPr/>
        </p:nvSpPr>
        <p:spPr>
          <a:xfrm>
            <a:off x="6753225" y="4936737"/>
            <a:ext cx="2793723" cy="464720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설명선: 선 88">
            <a:extLst>
              <a:ext uri="{FF2B5EF4-FFF2-40B4-BE49-F238E27FC236}">
                <a16:creationId xmlns:a16="http://schemas.microsoft.com/office/drawing/2014/main" id="{BDF2EE53-94BA-66EA-6941-04C9EEF78B89}"/>
              </a:ext>
            </a:extLst>
          </p:cNvPr>
          <p:cNvSpPr/>
          <p:nvPr/>
        </p:nvSpPr>
        <p:spPr>
          <a:xfrm>
            <a:off x="5057775" y="4974633"/>
            <a:ext cx="1285875" cy="338554"/>
          </a:xfrm>
          <a:prstGeom prst="borderCallout1">
            <a:avLst>
              <a:gd name="adj1" fmla="val 1869"/>
              <a:gd name="adj2" fmla="val 99074"/>
              <a:gd name="adj3" fmla="val -11292"/>
              <a:gd name="adj4" fmla="val 13129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button</a:t>
            </a:r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8656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701EE-B295-5564-2595-BACAF8926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103FAD4-065D-100C-0B98-53C7A775F1C7}"/>
              </a:ext>
            </a:extLst>
          </p:cNvPr>
          <p:cNvSpPr txBox="1"/>
          <p:nvPr/>
        </p:nvSpPr>
        <p:spPr>
          <a:xfrm>
            <a:off x="298174" y="238953"/>
            <a:ext cx="57978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4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Results</a:t>
            </a:r>
            <a:endParaRPr lang="ko-KR" altLang="en-US" sz="24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3BBF6D6-4189-DB52-F533-AAF1576AD004}"/>
              </a:ext>
            </a:extLst>
          </p:cNvPr>
          <p:cNvSpPr txBox="1"/>
          <p:nvPr/>
        </p:nvSpPr>
        <p:spPr>
          <a:xfrm>
            <a:off x="5962647" y="4600269"/>
            <a:ext cx="2209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Factor of Safety</a:t>
            </a:r>
            <a:endParaRPr lang="ko-KR" altLang="en-US" sz="16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87C46CC-BAE6-D228-9B0B-A30D72375A53}"/>
              </a:ext>
            </a:extLst>
          </p:cNvPr>
          <p:cNvSpPr txBox="1"/>
          <p:nvPr/>
        </p:nvSpPr>
        <p:spPr>
          <a:xfrm>
            <a:off x="8172447" y="4600269"/>
            <a:ext cx="18716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Reliability</a:t>
            </a:r>
            <a:endParaRPr lang="ko-KR" altLang="en-US" sz="16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E3BBE6B-E79E-DFDF-8CEA-FE70BBB2DA12}"/>
              </a:ext>
            </a:extLst>
          </p:cNvPr>
          <p:cNvSpPr txBox="1"/>
          <p:nvPr/>
        </p:nvSpPr>
        <p:spPr>
          <a:xfrm>
            <a:off x="5962647" y="4965950"/>
            <a:ext cx="2209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0.00</a:t>
            </a:r>
            <a:endParaRPr lang="ko-KR" altLang="en-US" sz="16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8F192FC-8219-8A58-977C-A078BBA85593}"/>
              </a:ext>
            </a:extLst>
          </p:cNvPr>
          <p:cNvSpPr txBox="1"/>
          <p:nvPr/>
        </p:nvSpPr>
        <p:spPr>
          <a:xfrm>
            <a:off x="8172447" y="4965950"/>
            <a:ext cx="18716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00%</a:t>
            </a:r>
            <a:endParaRPr lang="ko-KR" altLang="en-US" sz="16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648856E-75B9-1534-31C3-EF5A2141BF2F}"/>
              </a:ext>
            </a:extLst>
          </p:cNvPr>
          <p:cNvSpPr txBox="1"/>
          <p:nvPr/>
        </p:nvSpPr>
        <p:spPr>
          <a:xfrm>
            <a:off x="5163999" y="1641870"/>
            <a:ext cx="19035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Horizontal Displ.</a:t>
            </a:r>
            <a:endParaRPr lang="ko-KR" altLang="en-US" sz="16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110C169-2A65-02DA-3B9C-A015B7543400}"/>
              </a:ext>
            </a:extLst>
          </p:cNvPr>
          <p:cNvSpPr txBox="1"/>
          <p:nvPr/>
        </p:nvSpPr>
        <p:spPr>
          <a:xfrm>
            <a:off x="8535021" y="1641870"/>
            <a:ext cx="15496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Reliability</a:t>
            </a:r>
            <a:endParaRPr lang="ko-KR" altLang="en-US" sz="16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AAE29E7-FB77-C695-F749-E81ABCEC4326}"/>
              </a:ext>
            </a:extLst>
          </p:cNvPr>
          <p:cNvSpPr txBox="1"/>
          <p:nvPr/>
        </p:nvSpPr>
        <p:spPr>
          <a:xfrm>
            <a:off x="5163999" y="2007551"/>
            <a:ext cx="19035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0.00</a:t>
            </a:r>
            <a:endParaRPr lang="ko-KR" altLang="en-US" sz="16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B9A1F04-5F0C-96A1-F4C1-16DBDBF0AE79}"/>
              </a:ext>
            </a:extLst>
          </p:cNvPr>
          <p:cNvSpPr txBox="1"/>
          <p:nvPr/>
        </p:nvSpPr>
        <p:spPr>
          <a:xfrm>
            <a:off x="8535021" y="2007551"/>
            <a:ext cx="15496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00%</a:t>
            </a:r>
            <a:endParaRPr lang="ko-KR" altLang="en-US" sz="16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E146FE3-B270-A5FF-BE7A-5B82A99759A3}"/>
              </a:ext>
            </a:extLst>
          </p:cNvPr>
          <p:cNvSpPr/>
          <p:nvPr/>
        </p:nvSpPr>
        <p:spPr>
          <a:xfrm>
            <a:off x="7791450" y="6206723"/>
            <a:ext cx="1924050" cy="3385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visualize</a:t>
            </a:r>
            <a:endParaRPr lang="ko-KR" altLang="en-US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7FF7C7B-D0E2-7095-83F1-523A0D2708B7}"/>
              </a:ext>
            </a:extLst>
          </p:cNvPr>
          <p:cNvSpPr/>
          <p:nvPr/>
        </p:nvSpPr>
        <p:spPr>
          <a:xfrm>
            <a:off x="7626215" y="6091676"/>
            <a:ext cx="2209800" cy="593893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설명선: 선 3">
            <a:extLst>
              <a:ext uri="{FF2B5EF4-FFF2-40B4-BE49-F238E27FC236}">
                <a16:creationId xmlns:a16="http://schemas.microsoft.com/office/drawing/2014/main" id="{9C8040B9-F200-4507-44A9-27A25A91C9C3}"/>
              </a:ext>
            </a:extLst>
          </p:cNvPr>
          <p:cNvSpPr/>
          <p:nvPr/>
        </p:nvSpPr>
        <p:spPr>
          <a:xfrm>
            <a:off x="5635902" y="6091676"/>
            <a:ext cx="1285875" cy="338554"/>
          </a:xfrm>
          <a:prstGeom prst="borderCallout1">
            <a:avLst>
              <a:gd name="adj1" fmla="val -944"/>
              <a:gd name="adj2" fmla="val 99074"/>
              <a:gd name="adj3" fmla="val 19657"/>
              <a:gd name="adj4" fmla="val 15426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button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F3A920-F602-BCEE-3EC5-AE71A4DC404C}"/>
              </a:ext>
            </a:extLst>
          </p:cNvPr>
          <p:cNvSpPr txBox="1"/>
          <p:nvPr/>
        </p:nvSpPr>
        <p:spPr>
          <a:xfrm>
            <a:off x="298174" y="1662372"/>
            <a:ext cx="26235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16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① </a:t>
            </a:r>
            <a:r>
              <a:rPr lang="en-US" altLang="ko-KR" sz="16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Monitoring point</a:t>
            </a:r>
            <a:endParaRPr lang="ko-KR" altLang="en-US" sz="16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6B8623F-B7B1-81E4-8FAA-B16088FC57D1}"/>
              </a:ext>
            </a:extLst>
          </p:cNvPr>
          <p:cNvSpPr/>
          <p:nvPr/>
        </p:nvSpPr>
        <p:spPr>
          <a:xfrm>
            <a:off x="2802003" y="1662372"/>
            <a:ext cx="933036" cy="318052"/>
          </a:xfrm>
          <a:prstGeom prst="rect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12C336-FFDF-77B0-E095-B66E994516A3}"/>
              </a:ext>
            </a:extLst>
          </p:cNvPr>
          <p:cNvSpPr txBox="1"/>
          <p:nvPr/>
        </p:nvSpPr>
        <p:spPr>
          <a:xfrm>
            <a:off x="2475666" y="1662372"/>
            <a:ext cx="3027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X</a:t>
            </a:r>
            <a:endParaRPr lang="ko-KR" altLang="en-US" sz="16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9071B5D-F3EB-17FC-8D91-7BC98357E3AB}"/>
              </a:ext>
            </a:extLst>
          </p:cNvPr>
          <p:cNvSpPr/>
          <p:nvPr/>
        </p:nvSpPr>
        <p:spPr>
          <a:xfrm>
            <a:off x="4061375" y="1662372"/>
            <a:ext cx="933036" cy="318052"/>
          </a:xfrm>
          <a:prstGeom prst="rect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D51D4D-FB41-9093-E89F-341A2D206CF2}"/>
              </a:ext>
            </a:extLst>
          </p:cNvPr>
          <p:cNvSpPr txBox="1"/>
          <p:nvPr/>
        </p:nvSpPr>
        <p:spPr>
          <a:xfrm>
            <a:off x="3735038" y="1662372"/>
            <a:ext cx="3027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>
                <a:latin typeface="ADLaM Display" panose="020F0502020204030204" pitchFamily="2" charset="0"/>
                <a:cs typeface="ADLaM Display" panose="020F0502020204030204" pitchFamily="2" charset="0"/>
              </a:rPr>
              <a:t>y</a:t>
            </a:r>
            <a:endParaRPr lang="ko-KR" altLang="en-US" sz="16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FAE29E-0BCA-2B02-4755-D8F47A5DF842}"/>
              </a:ext>
            </a:extLst>
          </p:cNvPr>
          <p:cNvSpPr txBox="1"/>
          <p:nvPr/>
        </p:nvSpPr>
        <p:spPr>
          <a:xfrm>
            <a:off x="298174" y="950662"/>
            <a:ext cx="57978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4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Displacement</a:t>
            </a:r>
            <a:endParaRPr lang="ko-KR" altLang="en-US" sz="24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9BA786-FB5F-6B95-DF63-06ADED1E730C}"/>
              </a:ext>
            </a:extLst>
          </p:cNvPr>
          <p:cNvSpPr txBox="1"/>
          <p:nvPr/>
        </p:nvSpPr>
        <p:spPr>
          <a:xfrm>
            <a:off x="6952006" y="1641870"/>
            <a:ext cx="18356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Vertical Displ.</a:t>
            </a:r>
            <a:endParaRPr lang="ko-KR" altLang="en-US" sz="16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C92923-E06B-F6CF-F086-63667BD3ABBF}"/>
              </a:ext>
            </a:extLst>
          </p:cNvPr>
          <p:cNvSpPr txBox="1"/>
          <p:nvPr/>
        </p:nvSpPr>
        <p:spPr>
          <a:xfrm>
            <a:off x="6952005" y="2007551"/>
            <a:ext cx="18356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0.00</a:t>
            </a:r>
            <a:endParaRPr lang="ko-KR" altLang="en-US" sz="16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81A71F-C327-DCC8-7C66-4A40036BE297}"/>
              </a:ext>
            </a:extLst>
          </p:cNvPr>
          <p:cNvSpPr txBox="1"/>
          <p:nvPr/>
        </p:nvSpPr>
        <p:spPr>
          <a:xfrm>
            <a:off x="298174" y="4707990"/>
            <a:ext cx="57978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4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Foctor of Safety</a:t>
            </a:r>
            <a:endParaRPr lang="ko-KR" altLang="en-US" sz="24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5" name="설명선: 선 14">
            <a:extLst>
              <a:ext uri="{FF2B5EF4-FFF2-40B4-BE49-F238E27FC236}">
                <a16:creationId xmlns:a16="http://schemas.microsoft.com/office/drawing/2014/main" id="{33E6C12C-72C7-0912-6C83-FB350ABF2A73}"/>
              </a:ext>
            </a:extLst>
          </p:cNvPr>
          <p:cNvSpPr/>
          <p:nvPr/>
        </p:nvSpPr>
        <p:spPr>
          <a:xfrm>
            <a:off x="10540862" y="185327"/>
            <a:ext cx="1352963" cy="338554"/>
          </a:xfrm>
          <a:prstGeom prst="borderCallout1">
            <a:avLst>
              <a:gd name="adj1" fmla="val 1869"/>
              <a:gd name="adj2" fmla="val -185"/>
              <a:gd name="adj3" fmla="val 157515"/>
              <a:gd name="adj4" fmla="val -33889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Ad Banner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82939EC-3BC7-E5D9-B6E0-92ED59F06F59}"/>
              </a:ext>
            </a:extLst>
          </p:cNvPr>
          <p:cNvSpPr/>
          <p:nvPr/>
        </p:nvSpPr>
        <p:spPr>
          <a:xfrm>
            <a:off x="9981785" y="710143"/>
            <a:ext cx="2029239" cy="5899379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602D48D-4338-A823-86E2-B0C1E8D90B99}"/>
              </a:ext>
            </a:extLst>
          </p:cNvPr>
          <p:cNvSpPr/>
          <p:nvPr/>
        </p:nvSpPr>
        <p:spPr>
          <a:xfrm>
            <a:off x="5231917" y="1960784"/>
            <a:ext cx="4604098" cy="392795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설명선: 선 17">
            <a:extLst>
              <a:ext uri="{FF2B5EF4-FFF2-40B4-BE49-F238E27FC236}">
                <a16:creationId xmlns:a16="http://schemas.microsoft.com/office/drawing/2014/main" id="{21445598-2F02-8F25-E507-AF2CBF7B6F49}"/>
              </a:ext>
            </a:extLst>
          </p:cNvPr>
          <p:cNvSpPr/>
          <p:nvPr/>
        </p:nvSpPr>
        <p:spPr>
          <a:xfrm>
            <a:off x="3092100" y="2612033"/>
            <a:ext cx="1285875" cy="616941"/>
          </a:xfrm>
          <a:prstGeom prst="borderCallout1">
            <a:avLst>
              <a:gd name="adj1" fmla="val -944"/>
              <a:gd name="adj2" fmla="val 99074"/>
              <a:gd name="adj3" fmla="val -73187"/>
              <a:gd name="adj4" fmla="val 16611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Prediction value</a:t>
            </a:r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7723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1A206-845A-CD0F-5FA8-6C55343A5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29B2342-8EBE-A164-9CBA-67089CEC4AD1}"/>
              </a:ext>
            </a:extLst>
          </p:cNvPr>
          <p:cNvSpPr txBox="1"/>
          <p:nvPr/>
        </p:nvSpPr>
        <p:spPr>
          <a:xfrm>
            <a:off x="298174" y="238953"/>
            <a:ext cx="57978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4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Results</a:t>
            </a:r>
            <a:endParaRPr lang="ko-KR" altLang="en-US" sz="24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01C492-258F-FBEB-3FCA-61B7E5DB5C1C}"/>
              </a:ext>
            </a:extLst>
          </p:cNvPr>
          <p:cNvSpPr txBox="1"/>
          <p:nvPr/>
        </p:nvSpPr>
        <p:spPr>
          <a:xfrm>
            <a:off x="298174" y="700618"/>
            <a:ext cx="57978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4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Total Displacement</a:t>
            </a:r>
            <a:endParaRPr lang="ko-KR" altLang="en-US" sz="24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9CC9FE3-FA06-A4F0-7564-89F8D0F05AB7}"/>
              </a:ext>
            </a:extLst>
          </p:cNvPr>
          <p:cNvSpPr/>
          <p:nvPr/>
        </p:nvSpPr>
        <p:spPr>
          <a:xfrm>
            <a:off x="438150" y="1283481"/>
            <a:ext cx="8734425" cy="414576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설명선: 선 15">
            <a:extLst>
              <a:ext uri="{FF2B5EF4-FFF2-40B4-BE49-F238E27FC236}">
                <a16:creationId xmlns:a16="http://schemas.microsoft.com/office/drawing/2014/main" id="{FE4BDBFD-2B6A-47B6-5C2A-E61E654CD563}"/>
              </a:ext>
            </a:extLst>
          </p:cNvPr>
          <p:cNvSpPr/>
          <p:nvPr/>
        </p:nvSpPr>
        <p:spPr>
          <a:xfrm>
            <a:off x="10540862" y="185327"/>
            <a:ext cx="1352963" cy="338554"/>
          </a:xfrm>
          <a:prstGeom prst="borderCallout1">
            <a:avLst>
              <a:gd name="adj1" fmla="val 1869"/>
              <a:gd name="adj2" fmla="val -185"/>
              <a:gd name="adj3" fmla="val 157515"/>
              <a:gd name="adj4" fmla="val -33889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Ad Banner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1C3111A-81D0-4503-DC4C-46600DFE9175}"/>
              </a:ext>
            </a:extLst>
          </p:cNvPr>
          <p:cNvSpPr/>
          <p:nvPr/>
        </p:nvSpPr>
        <p:spPr>
          <a:xfrm>
            <a:off x="9981785" y="710143"/>
            <a:ext cx="2029239" cy="5899379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7AD0BA84-8F2E-7C85-7E3D-9F391EFFB9CC}"/>
              </a:ext>
            </a:extLst>
          </p:cNvPr>
          <p:cNvSpPr/>
          <p:nvPr/>
        </p:nvSpPr>
        <p:spPr>
          <a:xfrm>
            <a:off x="7791450" y="6206723"/>
            <a:ext cx="1924050" cy="3385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next</a:t>
            </a:r>
            <a:endParaRPr lang="ko-KR" altLang="en-US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4509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7595C-950A-F26E-7971-56AEE0D6B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F23652C-BB34-7A9E-05D3-AAA72514ED0B}"/>
              </a:ext>
            </a:extLst>
          </p:cNvPr>
          <p:cNvSpPr txBox="1"/>
          <p:nvPr/>
        </p:nvSpPr>
        <p:spPr>
          <a:xfrm>
            <a:off x="298174" y="238953"/>
            <a:ext cx="57978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4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Results</a:t>
            </a:r>
            <a:endParaRPr lang="ko-KR" altLang="en-US" sz="24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AB4270-71C8-4BEB-427B-DAE04BDF8001}"/>
              </a:ext>
            </a:extLst>
          </p:cNvPr>
          <p:cNvSpPr txBox="1"/>
          <p:nvPr/>
        </p:nvSpPr>
        <p:spPr>
          <a:xfrm>
            <a:off x="298174" y="700618"/>
            <a:ext cx="57978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4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Horizontal Displacement</a:t>
            </a:r>
            <a:endParaRPr lang="ko-KR" altLang="en-US" sz="24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41EC5D2-3764-B5B8-B067-334F5963D03B}"/>
              </a:ext>
            </a:extLst>
          </p:cNvPr>
          <p:cNvSpPr/>
          <p:nvPr/>
        </p:nvSpPr>
        <p:spPr>
          <a:xfrm>
            <a:off x="438150" y="1283481"/>
            <a:ext cx="8734425" cy="414576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설명선: 선 15">
            <a:extLst>
              <a:ext uri="{FF2B5EF4-FFF2-40B4-BE49-F238E27FC236}">
                <a16:creationId xmlns:a16="http://schemas.microsoft.com/office/drawing/2014/main" id="{32EB6523-E4FE-57D1-676A-37ECC5C94DA9}"/>
              </a:ext>
            </a:extLst>
          </p:cNvPr>
          <p:cNvSpPr/>
          <p:nvPr/>
        </p:nvSpPr>
        <p:spPr>
          <a:xfrm>
            <a:off x="10540862" y="185327"/>
            <a:ext cx="1352963" cy="338554"/>
          </a:xfrm>
          <a:prstGeom prst="borderCallout1">
            <a:avLst>
              <a:gd name="adj1" fmla="val 1869"/>
              <a:gd name="adj2" fmla="val -185"/>
              <a:gd name="adj3" fmla="val 157515"/>
              <a:gd name="adj4" fmla="val -33889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Ad Banner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D04EC8E-9413-A65F-4895-EED93AD133AD}"/>
              </a:ext>
            </a:extLst>
          </p:cNvPr>
          <p:cNvSpPr/>
          <p:nvPr/>
        </p:nvSpPr>
        <p:spPr>
          <a:xfrm>
            <a:off x="9981785" y="710143"/>
            <a:ext cx="2029239" cy="5899379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6E54CA93-A6AD-CBCA-C33F-DF746BF02CF0}"/>
              </a:ext>
            </a:extLst>
          </p:cNvPr>
          <p:cNvSpPr/>
          <p:nvPr/>
        </p:nvSpPr>
        <p:spPr>
          <a:xfrm>
            <a:off x="7791450" y="6206723"/>
            <a:ext cx="1924050" cy="3385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next</a:t>
            </a:r>
            <a:endParaRPr lang="ko-KR" altLang="en-US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FF81355A-6ACE-9069-1562-D6C92DC4B58A}"/>
              </a:ext>
            </a:extLst>
          </p:cNvPr>
          <p:cNvSpPr/>
          <p:nvPr/>
        </p:nvSpPr>
        <p:spPr>
          <a:xfrm>
            <a:off x="5601115" y="6206723"/>
            <a:ext cx="1924050" cy="3385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prev</a:t>
            </a:r>
            <a:endParaRPr lang="ko-KR" altLang="en-US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14527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8BAE1-91FE-E9B2-4AAA-2D36C4D92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FAC55D7-D6BE-0C63-95E8-1775FB52FDAC}"/>
              </a:ext>
            </a:extLst>
          </p:cNvPr>
          <p:cNvSpPr txBox="1"/>
          <p:nvPr/>
        </p:nvSpPr>
        <p:spPr>
          <a:xfrm>
            <a:off x="298174" y="238953"/>
            <a:ext cx="57978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4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Results</a:t>
            </a:r>
            <a:endParaRPr lang="ko-KR" altLang="en-US" sz="24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F333E4-4BBB-D817-CADB-11299097DD2C}"/>
              </a:ext>
            </a:extLst>
          </p:cNvPr>
          <p:cNvSpPr txBox="1"/>
          <p:nvPr/>
        </p:nvSpPr>
        <p:spPr>
          <a:xfrm>
            <a:off x="298174" y="700618"/>
            <a:ext cx="57978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4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Vertical Displacement</a:t>
            </a:r>
            <a:endParaRPr lang="ko-KR" altLang="en-US" sz="24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133AC24-EBE2-350D-D714-04AC18219B3A}"/>
              </a:ext>
            </a:extLst>
          </p:cNvPr>
          <p:cNvSpPr/>
          <p:nvPr/>
        </p:nvSpPr>
        <p:spPr>
          <a:xfrm>
            <a:off x="438150" y="1283481"/>
            <a:ext cx="8734425" cy="414576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설명선: 선 15">
            <a:extLst>
              <a:ext uri="{FF2B5EF4-FFF2-40B4-BE49-F238E27FC236}">
                <a16:creationId xmlns:a16="http://schemas.microsoft.com/office/drawing/2014/main" id="{BF818AB3-90D0-FF4F-A37A-3B3B45DA37EA}"/>
              </a:ext>
            </a:extLst>
          </p:cNvPr>
          <p:cNvSpPr/>
          <p:nvPr/>
        </p:nvSpPr>
        <p:spPr>
          <a:xfrm>
            <a:off x="10540862" y="185327"/>
            <a:ext cx="1352963" cy="338554"/>
          </a:xfrm>
          <a:prstGeom prst="borderCallout1">
            <a:avLst>
              <a:gd name="adj1" fmla="val 1869"/>
              <a:gd name="adj2" fmla="val -185"/>
              <a:gd name="adj3" fmla="val 157515"/>
              <a:gd name="adj4" fmla="val -33889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Ad Banner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EA4CCFC-F4A9-1B3B-87EB-19038C6966A3}"/>
              </a:ext>
            </a:extLst>
          </p:cNvPr>
          <p:cNvSpPr/>
          <p:nvPr/>
        </p:nvSpPr>
        <p:spPr>
          <a:xfrm>
            <a:off x="9981785" y="710143"/>
            <a:ext cx="2029239" cy="5899379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93B3F4F4-46F3-726C-2C4B-5FDDE70D7C73}"/>
              </a:ext>
            </a:extLst>
          </p:cNvPr>
          <p:cNvSpPr/>
          <p:nvPr/>
        </p:nvSpPr>
        <p:spPr>
          <a:xfrm>
            <a:off x="7791450" y="6206723"/>
            <a:ext cx="1924050" cy="3385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next</a:t>
            </a:r>
            <a:endParaRPr lang="ko-KR" altLang="en-US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8E7A8BEB-7386-C899-42B2-F288A3328D61}"/>
              </a:ext>
            </a:extLst>
          </p:cNvPr>
          <p:cNvSpPr/>
          <p:nvPr/>
        </p:nvSpPr>
        <p:spPr>
          <a:xfrm>
            <a:off x="5601115" y="6206723"/>
            <a:ext cx="1924050" cy="3385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prev</a:t>
            </a:r>
            <a:endParaRPr lang="ko-KR" altLang="en-US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4433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FE0CA-A20C-D128-01C3-617ADE666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3BB2AEB-5038-6121-2AE7-F2FA1D545810}"/>
              </a:ext>
            </a:extLst>
          </p:cNvPr>
          <p:cNvSpPr txBox="1"/>
          <p:nvPr/>
        </p:nvSpPr>
        <p:spPr>
          <a:xfrm>
            <a:off x="298174" y="238953"/>
            <a:ext cx="57978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4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Results</a:t>
            </a:r>
            <a:endParaRPr lang="ko-KR" altLang="en-US" sz="24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9A5D0E-1E9C-857D-4E0F-BD0807606BC8}"/>
              </a:ext>
            </a:extLst>
          </p:cNvPr>
          <p:cNvSpPr txBox="1"/>
          <p:nvPr/>
        </p:nvSpPr>
        <p:spPr>
          <a:xfrm>
            <a:off x="298174" y="700618"/>
            <a:ext cx="57978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40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Shear strain</a:t>
            </a:r>
            <a:endParaRPr lang="ko-KR" altLang="en-US" sz="240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D57A97E-7283-F4DE-0DAA-1891AFC93DB8}"/>
              </a:ext>
            </a:extLst>
          </p:cNvPr>
          <p:cNvSpPr/>
          <p:nvPr/>
        </p:nvSpPr>
        <p:spPr>
          <a:xfrm>
            <a:off x="438150" y="1283481"/>
            <a:ext cx="8734425" cy="414576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설명선: 선 15">
            <a:extLst>
              <a:ext uri="{FF2B5EF4-FFF2-40B4-BE49-F238E27FC236}">
                <a16:creationId xmlns:a16="http://schemas.microsoft.com/office/drawing/2014/main" id="{47BCDD58-1B81-2664-B151-C59E332AB8FB}"/>
              </a:ext>
            </a:extLst>
          </p:cNvPr>
          <p:cNvSpPr/>
          <p:nvPr/>
        </p:nvSpPr>
        <p:spPr>
          <a:xfrm>
            <a:off x="10540862" y="185327"/>
            <a:ext cx="1352963" cy="338554"/>
          </a:xfrm>
          <a:prstGeom prst="borderCallout1">
            <a:avLst>
              <a:gd name="adj1" fmla="val 1869"/>
              <a:gd name="adj2" fmla="val -185"/>
              <a:gd name="adj3" fmla="val 157515"/>
              <a:gd name="adj4" fmla="val -33889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Ad Banner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B4A0D90-16C1-E670-95A0-129C8BA6744C}"/>
              </a:ext>
            </a:extLst>
          </p:cNvPr>
          <p:cNvSpPr/>
          <p:nvPr/>
        </p:nvSpPr>
        <p:spPr>
          <a:xfrm>
            <a:off x="9981785" y="710143"/>
            <a:ext cx="2029239" cy="5899379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089AD38B-B1E6-A2BD-E2EF-D345872F310A}"/>
              </a:ext>
            </a:extLst>
          </p:cNvPr>
          <p:cNvSpPr/>
          <p:nvPr/>
        </p:nvSpPr>
        <p:spPr>
          <a:xfrm>
            <a:off x="7791450" y="6206723"/>
            <a:ext cx="1924050" cy="3385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Home</a:t>
            </a:r>
            <a:endParaRPr lang="ko-KR" altLang="en-US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1110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1340</TotalTime>
  <Words>349</Words>
  <Application>Microsoft Office PowerPoint</Application>
  <PresentationFormat>와이드스크린</PresentationFormat>
  <Paragraphs>151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5" baseType="lpstr">
      <vt:lpstr>HY견고딕</vt:lpstr>
      <vt:lpstr>맑은 고딕</vt:lpstr>
      <vt:lpstr>ADLaM Display</vt:lpstr>
      <vt:lpstr>Arial</vt:lpstr>
      <vt:lpstr>Times New Roman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DW O</dc:creator>
  <cp:lastModifiedBy>DW O</cp:lastModifiedBy>
  <cp:revision>2</cp:revision>
  <dcterms:created xsi:type="dcterms:W3CDTF">2025-11-17T03:35:34Z</dcterms:created>
  <dcterms:modified xsi:type="dcterms:W3CDTF">2025-11-18T01:55:59Z</dcterms:modified>
</cp:coreProperties>
</file>